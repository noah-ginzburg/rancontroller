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25"/>
    <p:sldId id="275" r:id="rId26"/>
    <p:sldId id="268" r:id="rId14"/>
    <p:sldId id="269" r:id="rId15"/>
    <p:sldId id="270" r:id="rId16"/>
    <p:sldId id="271" r:id="rId17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in one line: what problem, what platform, what you set out to do. Introduce yourself and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roadmap in ~20 seconds so the audience knows the shape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Pause, then set up why this problem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gap plainly. The third bullet is where you name the specific problem you took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goals, no more. Make the primary one concrete and measurable.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Transition. Shift from why to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column top to bottom. Use the photo to show the actual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per month. This is the spine of the whole talk — keep it brisk.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payoff. This is what people came to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takeaways. Lead each with the one-word tag, then the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what was hard — it makes the learnings land. Pair each challenge with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did the team gain that outlasts your internship? Concrete deliverables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body on momentum: what you'd do next and what you'd recommend the team pursue.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your advisor and team by name.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3821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14450" y="876300"/>
            <a:ext cx="6016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RING ATTRACTOR NETWORKS ·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3294221"/>
            <a:ext cx="14519910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b="1" spc="-75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3D Spherical Ring Attractor Network for Drone Heading Tracking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990600" y="5241131"/>
            <a:ext cx="1157668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a 2D mean-field ring attractor network onto a sphere to represent full 3D heading on a Crazyflie drone.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90600" y="8453438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90600" y="8786813"/>
            <a:ext cx="20619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9177338"/>
            <a:ext cx="206197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Noah Ginzburg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703320" y="8786813"/>
            <a:ext cx="35902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/ TEAM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3320" y="9177338"/>
            <a:ext cx="359029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[Research Group · Advisor]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05420" y="8786813"/>
            <a:ext cx="287293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05420" y="9177338"/>
            <a:ext cx="287293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[June – August 2025]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3853815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0600" y="4110990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05000" y="4168140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981700" y="4227671"/>
            <a:ext cx="453571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attractors and the move from 2D to 3D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4911090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90600" y="5168265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05000" y="5225415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981700" y="5284946"/>
            <a:ext cx="566361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Icosphere nodes, connection kernel, and dynamics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5968365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90600" y="6225540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905000" y="6282690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981700" y="6342221"/>
            <a:ext cx="50127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Tracking, target selection, and benchmarks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90600" y="8025765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90600" y="7025640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90600" y="7282815"/>
            <a:ext cx="5334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905000" y="7339965"/>
            <a:ext cx="39814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5981700" y="7399496"/>
            <a:ext cx="487675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and next steps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27045"/>
            <a:ext cx="1793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990600" y="4589145"/>
            <a:ext cx="1793748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90600" y="5970270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0600" y="6284595"/>
            <a:ext cx="1079182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 attractors, and why heading tracking in 3D needs a sphere.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364105"/>
            <a:ext cx="8922387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ring attractor network (RAN) is a recurrent network that forms a stable bump of activity which tracks a sensory direction.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90600" y="3699510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3575685"/>
            <a:ext cx="864768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2D, nodes lie on a ring and the network encodes a single heading angle.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600" y="4693920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57300" y="4570095"/>
            <a:ext cx="864768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drone manoeuvring in 3D needs a full heading direction, not just a planar angle.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5688330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57300" y="5564505"/>
            <a:ext cx="864768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extend the 2D mean-field RAN onto the surface of a sphere for onboard heading tracking on a Crazyflie.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242050" y="4543425"/>
            <a:ext cx="9525" cy="280225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0600" y="4543425"/>
            <a:ext cx="51898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90600" y="5457825"/>
            <a:ext cx="4859591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 a full 3D heading direction as an activity bump on a spherical attractor.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90600" y="6998018"/>
            <a:ext cx="51898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036425" y="4543425"/>
            <a:ext cx="9525" cy="280225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784975" y="4543425"/>
            <a:ext cx="51898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784975" y="5457825"/>
            <a:ext cx="4859592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target via winner-take-all dynamics and track its direction accurately.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784975" y="6998018"/>
            <a:ext cx="51898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objective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579350" y="4543425"/>
            <a:ext cx="518985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579350" y="5457825"/>
            <a:ext cx="4859591" cy="1349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 50 Hz real-time integration on onboard compute (laptop / Raspberry Pi 4).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579350" y="6998018"/>
            <a:ext cx="518985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974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target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27045"/>
            <a:ext cx="1793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990600" y="4589145"/>
            <a:ext cx="1793748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90600" y="5970270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0600" y="6284595"/>
            <a:ext cx="1079182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placement, the connection kernel, sensory input, and network dynamics.</a:t>
            </a:r>
            <a:endParaRPr lang="en-US" sz="3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3884771"/>
            <a:ext cx="91740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PLACEMENT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275296"/>
            <a:ext cx="9174099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Icosphere at subdivision level n gives N = 10·4ⁿ + 2 near-equidistant, antipodally symmetric nodes.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90600" y="5093494"/>
            <a:ext cx="91740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KERNEL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5484019"/>
            <a:ext cx="8590292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Mexican-hat kernel over geodesic distance: local excitation, global inhibition, normalized by 1/N.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90600" y="6739414"/>
            <a:ext cx="917409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0600" y="7129939"/>
            <a:ext cx="8590292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Mean-field rate dynamics (Euler + noise); heading read out as the activation-weighted population vector.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Sphere to Heading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2364105"/>
            <a:ext cx="5130800" cy="28575"/>
          </a:xfrm>
          <a:prstGeom prst="rect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90600" y="2759393"/>
            <a:ext cx="133350" cy="1333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2678430"/>
            <a:ext cx="1374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202305"/>
            <a:ext cx="56438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Sphere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03910" y="3854768"/>
            <a:ext cx="5393690" cy="1423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icosphere nodes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geodesic distances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connection kernel 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78600" y="2364105"/>
            <a:ext cx="5130800" cy="28575"/>
          </a:xfrm>
          <a:prstGeom prst="rect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78600" y="2759393"/>
            <a:ext cx="133350" cy="1333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45300" y="2678430"/>
            <a:ext cx="1374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78600" y="3202305"/>
            <a:ext cx="56438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the Network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391910" y="3854768"/>
            <a:ext cx="5393690" cy="1423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sensory input from targets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the mean-field dynamics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 stable bump form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66600" y="2364105"/>
            <a:ext cx="5130800" cy="28575"/>
          </a:xfrm>
          <a:prstGeom prst="rect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166600" y="2759393"/>
            <a:ext cx="133350" cy="1333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433300" y="2678430"/>
            <a:ext cx="13746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6600" y="3202305"/>
            <a:ext cx="56438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Heading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979910" y="3854768"/>
            <a:ext cx="5393690" cy="1423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the population vector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parameters (u, σ, κ, v, γ)</a:t>
            </a:r>
            <a:endParaRPr lang="en-US" sz="2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real-time performance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27045"/>
            <a:ext cx="1793748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0" dirty="0"/>
          </a:p>
        </p:txBody>
      </p:sp>
      <p:sp>
        <p:nvSpPr>
          <p:cNvPr id="3" name="Text 1"/>
          <p:cNvSpPr/>
          <p:nvPr/>
        </p:nvSpPr>
        <p:spPr>
          <a:xfrm>
            <a:off x="990600" y="4589145"/>
            <a:ext cx="17937480" cy="1076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90600" y="5970270"/>
            <a:ext cx="762000" cy="47625"/>
          </a:xfrm>
          <a:prstGeom prst="roundRect">
            <a:avLst>
              <a:gd name="adj" fmla="val 50000"/>
            </a:avLst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0600" y="6284595"/>
            <a:ext cx="10791825" cy="112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shape, single- and two-target tracking, convergence, and compute cost.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4298156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0600" y="4738211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91000" y="4631531"/>
            <a:ext cx="11562795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target forms one stable bump; the population vector recovers its direction accurately.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5392579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90600" y="5832634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91000" y="5725954"/>
            <a:ext cx="13202524" cy="475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equal targets trigger winner-take-all; antipodal pairs split 50/50 via noise-driven symmetry breaking.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90600" y="7581424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90600" y="6487001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0600" y="6927056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91000" y="6820376"/>
            <a:ext cx="13694966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n=3 (642 nodes) the O(N²) update runs in real time at 50 Hz on a laptop and a Raspberry Pi 4.</a:t>
            </a:r>
            <a:endParaRPr lang="en-US" sz="2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Learnings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90600" y="236410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0600" y="304990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57300" y="2926080"/>
            <a:ext cx="7730871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Discretization bias: a target nearer a node gets stronger peak input and is selected over 50% of the time.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600" y="402526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57300" y="3901440"/>
            <a:ext cx="4715748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2D critical-gain formula u_crit = 1/(λ_max·sech²β) does not predict the 3D bifurcation.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90600" y="462724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257300" y="4503420"/>
            <a:ext cx="316001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amplitude must be tuned and 1/N-normalized to keep behaviour stable across resolutions.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525000" y="2364105"/>
            <a:ext cx="85496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 LEARNED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525000" y="304990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791700" y="2926080"/>
            <a:ext cx="298294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icosphere gives the antipodal symmetry a uniform connection kernel needs.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0" y="365188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91700" y="3528060"/>
            <a:ext cx="38085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integrated input over a target’s Voronoi region — not peak input — drives selection.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525000" y="4253865"/>
            <a:ext cx="95250" cy="95250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91700" y="4130040"/>
            <a:ext cx="43053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Equalizing only the input peaks fails: bump shape matters too.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Contributions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4706303"/>
            <a:ext cx="104775" cy="104775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66825" y="4563428"/>
            <a:ext cx="863787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3D spherical RAN that decodes heading from a population vector on an icosphere.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90600" y="5860732"/>
            <a:ext cx="104775" cy="104775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266825" y="5717857"/>
            <a:ext cx="8637875" cy="94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of kernel design, critical-gain tuning, and real-time compute limits.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7015163"/>
            <a:ext cx="104775" cy="104775"/>
          </a:xfrm>
          <a:prstGeom prst="ellipse">
            <a:avLst/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266825" y="6872288"/>
            <a:ext cx="9091152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parameter-sweep workflow for u, σ, κ, v, and target quality γ.</a:t>
            </a:r>
            <a:endParaRPr lang="en-US" sz="2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76300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LOOKING AHEAD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90600" y="1304925"/>
            <a:ext cx="1793748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b="1" spc="-37" kern="0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Recommendations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90600" y="4336256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0600" y="4631531"/>
            <a:ext cx="3055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62894" y="4631531"/>
            <a:ext cx="6809152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discretization bias using Voronoi-integrated input rather than peak input.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90600" y="5430679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90600" y="5725954"/>
            <a:ext cx="3055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62894" y="5725954"/>
            <a:ext cx="5681948" cy="475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a 3D critical-gain relation to replace the 2D formula.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90600" y="7543324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90600" y="6525101"/>
            <a:ext cx="16306800" cy="9525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0600" y="6820376"/>
            <a:ext cx="30559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62894" y="6820376"/>
            <a:ext cx="7334425" cy="475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19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model on the Crazyflie and close the loop with live target input.</a:t>
            </a:r>
            <a:endParaRPr lang="en-US" sz="2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938213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F74C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314450" y="876300"/>
            <a:ext cx="601618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RING ATTRACTOR NETWORKS ·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3802856"/>
            <a:ext cx="1793748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00" b="1" spc="-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90600" y="5279231"/>
            <a:ext cx="1793748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AAB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90600" y="8453438"/>
            <a:ext cx="163068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90600" y="8786813"/>
            <a:ext cx="28353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9177338"/>
            <a:ext cx="283538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B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Noah Ginzburg · noah.ginzburg@gmail.com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406424" y="8786813"/>
            <a:ext cx="74145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2F7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ACKNOWLEDGEMENTS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06424" y="9177338"/>
            <a:ext cx="741457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6EB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[Advisor], [Team], and [Lab] for their support.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876300"/>
            <a:ext cx="163068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spc="225">
                <a:solidFill>
                  <a:srgbClr val="2F74C0"/>
                </a:solidFill>
                <a:latin typeface="Courier New"/>
              </a:rPr>
              <a:t>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04925"/>
            <a:ext cx="16306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5294D"/>
                </a:solidFill>
                <a:latin typeface="Arial"/>
              </a:rPr>
              <a:t>Network Dynamics on the Sphere</a:t>
            </a:r>
          </a:p>
        </p:txBody>
      </p:sp>
      <p:pic>
        <p:nvPicPr>
          <p:cNvPr id="4" name="Picture 3" descr="Screenshot from 2026-06-24 16-40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843" y="2380000"/>
            <a:ext cx="2996912" cy="33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5700000"/>
            <a:ext cx="79734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Sensory input on the sphere</a:t>
            </a:r>
          </a:p>
        </p:txBody>
      </p:sp>
      <p:pic>
        <p:nvPicPr>
          <p:cNvPr id="6" name="Picture 5" descr="Screenshot from 2026-06-24 16-40-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2243" y="2380000"/>
            <a:ext cx="2996912" cy="33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4000" y="5700000"/>
            <a:ext cx="79734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Activation bump + decoded heading (red)</a:t>
            </a:r>
          </a:p>
        </p:txBody>
      </p:sp>
      <p:pic>
        <p:nvPicPr>
          <p:cNvPr id="8" name="Picture 7" descr="Screenshot from 2026-06-24 16-41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033" y="6300000"/>
            <a:ext cx="3248532" cy="33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600" y="9620000"/>
            <a:ext cx="79734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Sensory input — φ / θ surface</a:t>
            </a:r>
          </a:p>
        </p:txBody>
      </p:sp>
      <p:pic>
        <p:nvPicPr>
          <p:cNvPr id="10" name="Picture 9" descr="Screenshot from 2026-06-24 16-41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6433" y="6300000"/>
            <a:ext cx="3248532" cy="33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24000" y="9620000"/>
            <a:ext cx="79734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Activation strength — φ / θ surface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876300"/>
            <a:ext cx="16306800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spc="225">
                <a:solidFill>
                  <a:srgbClr val="2F74C0"/>
                </a:solidFill>
                <a:latin typeface="Courier New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0600" y="1304925"/>
            <a:ext cx="16306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5294D"/>
                </a:solidFill>
                <a:latin typeface="Arial"/>
              </a:rPr>
              <a:t>Quantitative Results &amp; Benchmarks</a:t>
            </a:r>
          </a:p>
        </p:txBody>
      </p:sp>
      <p:pic>
        <p:nvPicPr>
          <p:cNvPr id="4" name="Picture 3" descr="Screenshot from 2026-06-24 17-05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521" y="2380000"/>
            <a:ext cx="3464857" cy="345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5830000"/>
            <a:ext cx="38667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‖z‖ vs gain u</a:t>
            </a:r>
          </a:p>
        </p:txBody>
      </p:sp>
      <p:pic>
        <p:nvPicPr>
          <p:cNvPr id="6" name="Picture 5" descr="Screenshot from 2026-06-24 16-42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281" y="2380000"/>
            <a:ext cx="3190736" cy="345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37300" y="5830000"/>
            <a:ext cx="38667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Phase error vs timestep</a:t>
            </a:r>
          </a:p>
        </p:txBody>
      </p:sp>
      <p:pic>
        <p:nvPicPr>
          <p:cNvPr id="8" name="Picture 7" descr="Screenshot from 2026-06-24 17-0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921" y="2380000"/>
            <a:ext cx="3464857" cy="345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84000" y="5830000"/>
            <a:ext cx="38667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‖z‖ vs target quality γ</a:t>
            </a:r>
          </a:p>
        </p:txBody>
      </p:sp>
      <p:pic>
        <p:nvPicPr>
          <p:cNvPr id="10" name="Picture 9" descr="Screenshot from 2026-06-24 16-42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700" y="2570511"/>
            <a:ext cx="3866700" cy="30689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30700" y="5830000"/>
            <a:ext cx="38667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9748C"/>
                </a:solidFill>
                <a:latin typeface="Arial"/>
              </a:rPr>
              <a:t>Phase error vs quality 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6420000"/>
            <a:ext cx="16306800" cy="33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F74C0"/>
                </a:solidFill>
                <a:latin typeface="Courier New"/>
              </a:rPr>
              <a:t>BENCHMARK — 200-step static RAN run, 100 trials</a:t>
            </a:r>
          </a:p>
        </p:txBody>
      </p:sp>
      <p:pic>
        <p:nvPicPr>
          <p:cNvPr id="13" name="Picture 12" descr="Screenshot from 2026-06-24 16-48-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000" y="6780000"/>
            <a:ext cx="6250000" cy="1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2026-06-24T14:19:02Z</dcterms:created>
  <dcterms:modified xsi:type="dcterms:W3CDTF">2026-06-24T14:19:02Z</dcterms:modified>
</cp:coreProperties>
</file>