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15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9.png" ContentType="image/png"/>
  <Override PartName="/ppt/media/image13.png" ContentType="image/png"/>
  <Override PartName="/ppt/media/image8.png" ContentType="image/png"/>
  <Override PartName="/ppt/media/image12.png" ContentType="image/png"/>
  <Override PartName="/ppt/media/image7.png" ContentType="image/png"/>
  <Override PartName="/ppt/media/image11.png" ContentType="image/png"/>
  <Override PartName="/ppt/media/image6.png" ContentType="image/png"/>
  <Override PartName="/ppt/media/image10.png" ContentType="image/png"/>
  <Override PartName="/ppt/media/image5.png" ContentType="image/png"/>
  <Override PartName="/ppt/media/image4.png" ContentType="image/png"/>
  <Override PartName="/ppt/media/image23.png" ContentType="image/png"/>
  <Override PartName="/ppt/media/image22.png" ContentType="image/png"/>
  <Override PartName="/ppt/media/image21.png" ContentType="image/png"/>
  <Override PartName="/ppt/media/image19.png" ContentType="image/png"/>
  <Override PartName="/ppt/media/image1.png" ContentType="image/png"/>
  <Override PartName="/ppt/media/image3.png" ContentType="image/png"/>
  <Override PartName="/ppt/media/image20.png" ContentType="image/png"/>
  <Override PartName="/ppt/media/image18.png" ContentType="image/png"/>
  <Override PartName="/ppt/media/image17.png" ContentType="image/png"/>
  <Override PartName="/ppt/media/image16.png" ContentType="image/png"/>
  <Override PartName="/ppt/media/image15.png" ContentType="image/png"/>
  <Override PartName="/ppt/media/image14.png" ContentType="image/png"/>
  <Override PartName="/ppt/media/image2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14.xml.rels" ContentType="application/vnd.openxmlformats-package.relationships+xml"/>
  <Override PartName="/ppt/slides/_rels/slide11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8288000" cy="10287000"/>
  <p:notesSz cx="10287000" cy="18288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4E6A54F7-5E18-4E77-84BD-9B91BF204ABF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Open with the project in one line: what problem, what platform, what you set out to do. Introduce yourself and the lab.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08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0F276D5-AD64-4B74-ABB8-F999B4F5F31F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Give the roadmap in ~20 seconds so the audience knows the shape of the talk.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11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27EA6E8-ADFE-4B90-9FDB-0BBBB6D14974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State the gap plainly. The third bullet is where you name the specific problem you took on.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14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87D1191-22F3-446A-B0AF-634F9186CC9F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Three goals, no more. Make the primary one concrete and measurable.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17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1647049-1593-404D-BAD1-790CF9DA8172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Walk left column top to bottom. Use the photo to show the actual hardware.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E014DCE-ADB1-4994-B153-D097374D51F6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Walk left column top to bottom. Use the photo to show the actual hardware.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23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F5BD349-732D-4B2B-8753-4B9E89D49833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One sentence per month. This is the spine of the whole talk — keep it brisk.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91F5FFD-2DE3-4D19-BFA7-F274B3D1D471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Thank your advisor and team by name. Invite questions.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97B9D64-9C2E-48D9-9174-5DD1B4BF3DAC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Be honest about what was hard — it makes the learnings land. Pair each challenge with growth.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32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99AB64C-4174-4141-BE80-4BA19D6DF0E8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What did the team gain that outlasts your internship? Concrete deliverables only.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35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72A7C0E-CD99-406D-9ED8-CA802BE20BFF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End the body on momentum: what you'd do next and what you'd recommend the team pursue.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C4E5287-A562-4BA7-A6F9-AA0661DBD044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914400" y="410400"/>
            <a:ext cx="16458840" cy="796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91440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934812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914400" y="5523120"/>
            <a:ext cx="1645884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1645884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914400" y="5523120"/>
            <a:ext cx="1645884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91440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934812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6479280" y="240696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12044160" y="240696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914400" y="552312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6479280" y="552312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12044160" y="552312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hape 0"/>
          <p:cNvSpPr/>
          <p:nvPr/>
        </p:nvSpPr>
        <p:spPr>
          <a:xfrm>
            <a:off x="990720" y="938160"/>
            <a:ext cx="171000" cy="171000"/>
          </a:xfrm>
          <a:prstGeom prst="roundRect">
            <a:avLst>
              <a:gd name="adj" fmla="val 16667"/>
            </a:avLst>
          </a:prstGeom>
          <a:solidFill>
            <a:srgbClr val="2f74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Text 1"/>
          <p:cNvSpPr/>
          <p:nvPr/>
        </p:nvSpPr>
        <p:spPr>
          <a:xfrm>
            <a:off x="1314360" y="876240"/>
            <a:ext cx="601596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222" strike="noStrike">
                <a:solidFill>
                  <a:srgbClr val="2f74c0"/>
                </a:solidFill>
                <a:latin typeface="Courier New"/>
                <a:ea typeface="Courier New"/>
              </a:rPr>
              <a:t>RING ATTRACTOR NETWORKS · 2026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6" name="Text 2"/>
          <p:cNvSpPr/>
          <p:nvPr/>
        </p:nvSpPr>
        <p:spPr>
          <a:xfrm>
            <a:off x="990720" y="3294360"/>
            <a:ext cx="14519520" cy="171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2000"/>
          </a:bodyPr>
          <a:p>
            <a:pPr>
              <a:lnSpc>
                <a:spcPct val="105000"/>
              </a:lnSpc>
              <a:buNone/>
              <a:tabLst>
                <a:tab algn="l" pos="0"/>
              </a:tabLst>
            </a:pPr>
            <a:r>
              <a:rPr b="1" lang="en-US" sz="6300" spc="-75" strike="noStrike">
                <a:solidFill>
                  <a:srgbClr val="15294d"/>
                </a:solidFill>
                <a:latin typeface="Arial"/>
                <a:ea typeface="Arial"/>
              </a:rPr>
              <a:t>3D Spherical Ring Attractor Network for Aerial Target Tracking</a:t>
            </a:r>
            <a:endParaRPr b="0" lang="en-US" sz="6300" spc="-1" strike="noStrike">
              <a:latin typeface="Arial"/>
            </a:endParaRPr>
          </a:p>
        </p:txBody>
      </p:sp>
      <p:sp>
        <p:nvSpPr>
          <p:cNvPr id="47" name="Text 3"/>
          <p:cNvSpPr/>
          <p:nvPr/>
        </p:nvSpPr>
        <p:spPr>
          <a:xfrm>
            <a:off x="990720" y="5241240"/>
            <a:ext cx="11576160" cy="11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2000"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rgbClr val="69748c"/>
                </a:solidFill>
                <a:latin typeface="Arial"/>
                <a:ea typeface="Arial"/>
              </a:rPr>
              <a:t>Extending a 2D mean-field ring attractor network onto a sphere to represent full 3D heading on a Crazyflie drone.</a:t>
            </a:r>
            <a:endParaRPr b="0" lang="en-US" sz="3300" spc="-1" strike="noStrike">
              <a:latin typeface="Arial"/>
            </a:endParaRPr>
          </a:p>
        </p:txBody>
      </p:sp>
      <p:sp>
        <p:nvSpPr>
          <p:cNvPr id="48" name="Shape 4"/>
          <p:cNvSpPr/>
          <p:nvPr/>
        </p:nvSpPr>
        <p:spPr>
          <a:xfrm>
            <a:off x="990720" y="8453520"/>
            <a:ext cx="16306560" cy="9000"/>
          </a:xfrm>
          <a:prstGeom prst="rect">
            <a:avLst/>
          </a:prstGeom>
          <a:solidFill>
            <a:srgbClr val="dde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" name="Text 5"/>
          <p:cNvSpPr/>
          <p:nvPr/>
        </p:nvSpPr>
        <p:spPr>
          <a:xfrm>
            <a:off x="990720" y="8786880"/>
            <a:ext cx="206172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148" strike="noStrike">
                <a:solidFill>
                  <a:srgbClr val="2f74c0"/>
                </a:solidFill>
                <a:latin typeface="Courier New"/>
                <a:ea typeface="Courier New"/>
              </a:rPr>
              <a:t>PRESENTED BY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0" name="Text 6"/>
          <p:cNvSpPr/>
          <p:nvPr/>
        </p:nvSpPr>
        <p:spPr>
          <a:xfrm>
            <a:off x="990720" y="9177480"/>
            <a:ext cx="2061720" cy="38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rgbClr val="19223a"/>
                </a:solidFill>
                <a:latin typeface="Arial"/>
                <a:ea typeface="Arial"/>
              </a:rPr>
              <a:t>[Your Name]</a:t>
            </a:r>
            <a:endParaRPr b="0" lang="en-US" sz="2100" spc="-1" strike="noStrike">
              <a:latin typeface="Arial"/>
            </a:endParaRPr>
          </a:p>
        </p:txBody>
      </p:sp>
      <p:sp>
        <p:nvSpPr>
          <p:cNvPr id="51" name="Text 7"/>
          <p:cNvSpPr/>
          <p:nvPr/>
        </p:nvSpPr>
        <p:spPr>
          <a:xfrm>
            <a:off x="3703320" y="8786880"/>
            <a:ext cx="358992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148" strike="noStrike">
                <a:solidFill>
                  <a:srgbClr val="2f74c0"/>
                </a:solidFill>
                <a:latin typeface="Courier New"/>
                <a:ea typeface="Courier New"/>
              </a:rPr>
              <a:t>LAB / TEAM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2" name="Text 8"/>
          <p:cNvSpPr/>
          <p:nvPr/>
        </p:nvSpPr>
        <p:spPr>
          <a:xfrm>
            <a:off x="3703320" y="9177480"/>
            <a:ext cx="3589920" cy="38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rgbClr val="19223a"/>
                </a:solidFill>
                <a:latin typeface="Arial"/>
                <a:ea typeface="Arial"/>
              </a:rPr>
              <a:t>[Research Group · Advisor]</a:t>
            </a:r>
            <a:endParaRPr b="0" lang="en-US" sz="2100" spc="-1" strike="noStrike">
              <a:latin typeface="Arial"/>
            </a:endParaRPr>
          </a:p>
        </p:txBody>
      </p:sp>
      <p:sp>
        <p:nvSpPr>
          <p:cNvPr id="53" name="Text 9"/>
          <p:cNvSpPr/>
          <p:nvPr/>
        </p:nvSpPr>
        <p:spPr>
          <a:xfrm>
            <a:off x="7805520" y="8786880"/>
            <a:ext cx="287244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148" strike="noStrike">
                <a:solidFill>
                  <a:srgbClr val="2f74c0"/>
                </a:solidFill>
                <a:latin typeface="Courier New"/>
                <a:ea typeface="Courier New"/>
              </a:rPr>
              <a:t>DURATION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4" name="Text 10"/>
          <p:cNvSpPr/>
          <p:nvPr/>
        </p:nvSpPr>
        <p:spPr>
          <a:xfrm>
            <a:off x="7805520" y="9177480"/>
            <a:ext cx="2872440" cy="38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rgbClr val="19223a"/>
                </a:solidFill>
                <a:latin typeface="Arial"/>
                <a:ea typeface="Arial"/>
              </a:rPr>
              <a:t>[June – August 2025]</a:t>
            </a:r>
            <a:endParaRPr b="0" lang="en-US" sz="2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Text 0"/>
          <p:cNvSpPr/>
          <p:nvPr/>
        </p:nvSpPr>
        <p:spPr>
          <a:xfrm>
            <a:off x="990720" y="876240"/>
            <a:ext cx="1793700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222" strike="noStrike">
                <a:solidFill>
                  <a:srgbClr val="2f74c0"/>
                </a:solidFill>
                <a:latin typeface="Courier New"/>
                <a:ea typeface="Courier New"/>
              </a:rPr>
              <a:t>OVERVIEW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6" name="Text 1"/>
          <p:cNvSpPr/>
          <p:nvPr/>
        </p:nvSpPr>
        <p:spPr>
          <a:xfrm>
            <a:off x="990720" y="1305000"/>
            <a:ext cx="17937000" cy="67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1000"/>
          </a:bodyPr>
          <a:p>
            <a:pPr>
              <a:lnSpc>
                <a:spcPct val="105000"/>
              </a:lnSpc>
              <a:buNone/>
              <a:tabLst>
                <a:tab algn="l" pos="0"/>
              </a:tabLst>
            </a:pPr>
            <a:r>
              <a:rPr b="1" lang="en-US" sz="4800" spc="-38" strike="noStrike">
                <a:solidFill>
                  <a:srgbClr val="15294d"/>
                </a:solidFill>
                <a:latin typeface="Arial"/>
                <a:ea typeface="Arial"/>
              </a:rPr>
              <a:t>Agenda</a:t>
            </a:r>
            <a:endParaRPr b="0" lang="en-US" sz="4800" spc="-1" strike="noStrike">
              <a:latin typeface="Arial"/>
            </a:endParaRPr>
          </a:p>
        </p:txBody>
      </p:sp>
      <p:sp>
        <p:nvSpPr>
          <p:cNvPr id="57" name="Shape 2"/>
          <p:cNvSpPr/>
          <p:nvPr/>
        </p:nvSpPr>
        <p:spPr>
          <a:xfrm>
            <a:off x="990720" y="3853800"/>
            <a:ext cx="16306560" cy="9000"/>
          </a:xfrm>
          <a:prstGeom prst="rect">
            <a:avLst/>
          </a:prstGeom>
          <a:solidFill>
            <a:srgbClr val="dde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" name="Text 3"/>
          <p:cNvSpPr/>
          <p:nvPr/>
        </p:nvSpPr>
        <p:spPr>
          <a:xfrm>
            <a:off x="990720" y="4110840"/>
            <a:ext cx="53316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000" spc="-1" strike="noStrike">
                <a:solidFill>
                  <a:srgbClr val="2f74c0"/>
                </a:solidFill>
                <a:latin typeface="Courier New"/>
                <a:ea typeface="Courier New"/>
              </a:rPr>
              <a:t>01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59" name="Text 4"/>
          <p:cNvSpPr/>
          <p:nvPr/>
        </p:nvSpPr>
        <p:spPr>
          <a:xfrm>
            <a:off x="1905120" y="4168080"/>
            <a:ext cx="3981240" cy="46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550" spc="-1" strike="noStrike">
                <a:solidFill>
                  <a:srgbClr val="15294d"/>
                </a:solidFill>
                <a:latin typeface="Arial"/>
                <a:ea typeface="Arial"/>
              </a:rPr>
              <a:t>The Network</a:t>
            </a:r>
            <a:endParaRPr b="0" lang="en-US" sz="2550" spc="-1" strike="noStrike">
              <a:latin typeface="Arial"/>
            </a:endParaRPr>
          </a:p>
        </p:txBody>
      </p:sp>
      <p:sp>
        <p:nvSpPr>
          <p:cNvPr id="60" name="Text 5"/>
          <p:cNvSpPr/>
          <p:nvPr/>
        </p:nvSpPr>
        <p:spPr>
          <a:xfrm>
            <a:off x="5981760" y="4227840"/>
            <a:ext cx="4535280" cy="38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6000"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rgbClr val="69748c"/>
                </a:solidFill>
                <a:latin typeface="Arial"/>
                <a:ea typeface="Arial"/>
              </a:rPr>
              <a:t>Ring attractors and the move from 2D to 3D</a:t>
            </a:r>
            <a:endParaRPr b="0" lang="en-US" sz="2100" spc="-1" strike="noStrike">
              <a:latin typeface="Arial"/>
            </a:endParaRPr>
          </a:p>
        </p:txBody>
      </p:sp>
      <p:sp>
        <p:nvSpPr>
          <p:cNvPr id="61" name="Shape 6"/>
          <p:cNvSpPr/>
          <p:nvPr/>
        </p:nvSpPr>
        <p:spPr>
          <a:xfrm>
            <a:off x="990720" y="4911120"/>
            <a:ext cx="16306560" cy="9000"/>
          </a:xfrm>
          <a:prstGeom prst="rect">
            <a:avLst/>
          </a:prstGeom>
          <a:solidFill>
            <a:srgbClr val="dde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2" name="Text 7"/>
          <p:cNvSpPr/>
          <p:nvPr/>
        </p:nvSpPr>
        <p:spPr>
          <a:xfrm>
            <a:off x="990720" y="5168160"/>
            <a:ext cx="53316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000" spc="-1" strike="noStrike">
                <a:solidFill>
                  <a:srgbClr val="2f74c0"/>
                </a:solidFill>
                <a:latin typeface="Courier New"/>
                <a:ea typeface="Courier New"/>
              </a:rPr>
              <a:t>02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63" name="Text 8"/>
          <p:cNvSpPr/>
          <p:nvPr/>
        </p:nvSpPr>
        <p:spPr>
          <a:xfrm>
            <a:off x="1905120" y="5225400"/>
            <a:ext cx="3981240" cy="46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550" spc="-1" strike="noStrike">
                <a:solidFill>
                  <a:srgbClr val="15294d"/>
                </a:solidFill>
                <a:latin typeface="Arial"/>
                <a:ea typeface="Arial"/>
              </a:rPr>
              <a:t>Methods</a:t>
            </a:r>
            <a:endParaRPr b="0" lang="en-US" sz="2550" spc="-1" strike="noStrike">
              <a:latin typeface="Arial"/>
            </a:endParaRPr>
          </a:p>
        </p:txBody>
      </p:sp>
      <p:sp>
        <p:nvSpPr>
          <p:cNvPr id="64" name="Text 9"/>
          <p:cNvSpPr/>
          <p:nvPr/>
        </p:nvSpPr>
        <p:spPr>
          <a:xfrm>
            <a:off x="5981760" y="5284800"/>
            <a:ext cx="5663160" cy="38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6000"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rgbClr val="69748c"/>
                </a:solidFill>
                <a:latin typeface="Arial"/>
                <a:ea typeface="Arial"/>
              </a:rPr>
              <a:t>Icosphere nodes, connection kernel, and dynamics</a:t>
            </a:r>
            <a:endParaRPr b="0" lang="en-US" sz="2100" spc="-1" strike="noStrike">
              <a:latin typeface="Arial"/>
            </a:endParaRPr>
          </a:p>
        </p:txBody>
      </p:sp>
      <p:sp>
        <p:nvSpPr>
          <p:cNvPr id="65" name="Shape 10"/>
          <p:cNvSpPr/>
          <p:nvPr/>
        </p:nvSpPr>
        <p:spPr>
          <a:xfrm>
            <a:off x="990720" y="5968440"/>
            <a:ext cx="16306560" cy="9000"/>
          </a:xfrm>
          <a:prstGeom prst="rect">
            <a:avLst/>
          </a:prstGeom>
          <a:solidFill>
            <a:srgbClr val="dde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" name="Text 11"/>
          <p:cNvSpPr/>
          <p:nvPr/>
        </p:nvSpPr>
        <p:spPr>
          <a:xfrm>
            <a:off x="990720" y="6225480"/>
            <a:ext cx="53316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000" spc="-1" strike="noStrike">
                <a:solidFill>
                  <a:srgbClr val="2f74c0"/>
                </a:solidFill>
                <a:latin typeface="Courier New"/>
                <a:ea typeface="Courier New"/>
              </a:rPr>
              <a:t>03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67" name="Text 12"/>
          <p:cNvSpPr/>
          <p:nvPr/>
        </p:nvSpPr>
        <p:spPr>
          <a:xfrm>
            <a:off x="1905120" y="6282720"/>
            <a:ext cx="3981240" cy="46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550" spc="-1" strike="noStrike">
                <a:solidFill>
                  <a:srgbClr val="15294d"/>
                </a:solidFill>
                <a:latin typeface="Arial"/>
                <a:ea typeface="Arial"/>
              </a:rPr>
              <a:t>Results</a:t>
            </a:r>
            <a:endParaRPr b="0" lang="en-US" sz="2550" spc="-1" strike="noStrike">
              <a:latin typeface="Arial"/>
            </a:endParaRPr>
          </a:p>
        </p:txBody>
      </p:sp>
      <p:sp>
        <p:nvSpPr>
          <p:cNvPr id="68" name="Text 13"/>
          <p:cNvSpPr/>
          <p:nvPr/>
        </p:nvSpPr>
        <p:spPr>
          <a:xfrm>
            <a:off x="5981760" y="6342120"/>
            <a:ext cx="5012280" cy="38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94000"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rgbClr val="69748c"/>
                </a:solidFill>
                <a:latin typeface="Arial"/>
                <a:ea typeface="Arial"/>
              </a:rPr>
              <a:t>Tracking, target selection, and benchmarks</a:t>
            </a:r>
            <a:endParaRPr b="0" lang="en-US" sz="2100" spc="-1" strike="noStrike">
              <a:latin typeface="Arial"/>
            </a:endParaRPr>
          </a:p>
        </p:txBody>
      </p:sp>
      <p:sp>
        <p:nvSpPr>
          <p:cNvPr id="69" name="Shape 14"/>
          <p:cNvSpPr/>
          <p:nvPr/>
        </p:nvSpPr>
        <p:spPr>
          <a:xfrm>
            <a:off x="990720" y="8025840"/>
            <a:ext cx="16306560" cy="9000"/>
          </a:xfrm>
          <a:prstGeom prst="rect">
            <a:avLst/>
          </a:prstGeom>
          <a:solidFill>
            <a:srgbClr val="dde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0" name="Shape 15"/>
          <p:cNvSpPr/>
          <p:nvPr/>
        </p:nvSpPr>
        <p:spPr>
          <a:xfrm>
            <a:off x="990720" y="7025760"/>
            <a:ext cx="16306560" cy="9000"/>
          </a:xfrm>
          <a:prstGeom prst="rect">
            <a:avLst/>
          </a:prstGeom>
          <a:solidFill>
            <a:srgbClr val="dde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1" name="Text 16"/>
          <p:cNvSpPr/>
          <p:nvPr/>
        </p:nvSpPr>
        <p:spPr>
          <a:xfrm>
            <a:off x="990720" y="7282800"/>
            <a:ext cx="53316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000" spc="-1" strike="noStrike">
                <a:solidFill>
                  <a:srgbClr val="2f74c0"/>
                </a:solidFill>
                <a:latin typeface="Courier New"/>
                <a:ea typeface="Courier New"/>
              </a:rPr>
              <a:t>04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72" name="Text 17"/>
          <p:cNvSpPr/>
          <p:nvPr/>
        </p:nvSpPr>
        <p:spPr>
          <a:xfrm>
            <a:off x="1905120" y="7340040"/>
            <a:ext cx="3981240" cy="46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550" spc="-1" strike="noStrike">
                <a:solidFill>
                  <a:srgbClr val="15294d"/>
                </a:solidFill>
                <a:latin typeface="Arial"/>
                <a:ea typeface="Arial"/>
              </a:rPr>
              <a:t>Conclusions</a:t>
            </a:r>
            <a:endParaRPr b="0" lang="en-US" sz="2550" spc="-1" strike="noStrike">
              <a:latin typeface="Arial"/>
            </a:endParaRPr>
          </a:p>
        </p:txBody>
      </p:sp>
      <p:sp>
        <p:nvSpPr>
          <p:cNvPr id="73" name="Text 18"/>
          <p:cNvSpPr/>
          <p:nvPr/>
        </p:nvSpPr>
        <p:spPr>
          <a:xfrm>
            <a:off x="5981760" y="7399440"/>
            <a:ext cx="4876560" cy="38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rgbClr val="69748c"/>
                </a:solidFill>
                <a:latin typeface="Arial"/>
                <a:ea typeface="Arial"/>
              </a:rPr>
              <a:t>Lessons learned and next steps</a:t>
            </a:r>
            <a:endParaRPr b="0" lang="en-US" sz="2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 0"/>
          <p:cNvSpPr/>
          <p:nvPr/>
        </p:nvSpPr>
        <p:spPr>
          <a:xfrm>
            <a:off x="990720" y="876240"/>
            <a:ext cx="1793700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222" strike="noStrike">
                <a:solidFill>
                  <a:srgbClr val="2f74c0"/>
                </a:solidFill>
                <a:latin typeface="Courier New"/>
                <a:ea typeface="Courier New"/>
              </a:rPr>
              <a:t>CONTEXT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75" name="Text 1"/>
          <p:cNvSpPr/>
          <p:nvPr/>
        </p:nvSpPr>
        <p:spPr>
          <a:xfrm>
            <a:off x="990720" y="1305000"/>
            <a:ext cx="17937000" cy="67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1000"/>
          </a:bodyPr>
          <a:p>
            <a:pPr>
              <a:lnSpc>
                <a:spcPct val="105000"/>
              </a:lnSpc>
              <a:buNone/>
              <a:tabLst>
                <a:tab algn="l" pos="0"/>
              </a:tabLst>
            </a:pPr>
            <a:r>
              <a:rPr b="1" lang="en-US" sz="4800" spc="-38" strike="noStrike">
                <a:solidFill>
                  <a:srgbClr val="15294d"/>
                </a:solidFill>
                <a:latin typeface="Arial"/>
                <a:ea typeface="Arial"/>
              </a:rPr>
              <a:t>Background &amp; Motivation</a:t>
            </a:r>
            <a:endParaRPr b="0" lang="en-US" sz="4800" spc="-1" strike="noStrike">
              <a:latin typeface="Arial"/>
            </a:endParaRPr>
          </a:p>
        </p:txBody>
      </p:sp>
      <p:sp>
        <p:nvSpPr>
          <p:cNvPr id="76" name="Text 2"/>
          <p:cNvSpPr/>
          <p:nvPr/>
        </p:nvSpPr>
        <p:spPr>
          <a:xfrm>
            <a:off x="990720" y="2364120"/>
            <a:ext cx="8921880" cy="94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1000"/>
          </a:bodyPr>
          <a:p>
            <a:pPr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2550" spc="-1" strike="noStrike">
                <a:solidFill>
                  <a:srgbClr val="19223a"/>
                </a:solidFill>
                <a:latin typeface="Arial"/>
                <a:ea typeface="Arial"/>
              </a:rPr>
              <a:t>A ring attractor network (RAN) is a recurrent network that forms a stable bump of activity which tracks a sensory direction.</a:t>
            </a:r>
            <a:endParaRPr b="0" lang="en-US" sz="2550" spc="-1" strike="noStrike">
              <a:latin typeface="Arial"/>
            </a:endParaRPr>
          </a:p>
        </p:txBody>
      </p:sp>
      <p:sp>
        <p:nvSpPr>
          <p:cNvPr id="77" name="Shape 3"/>
          <p:cNvSpPr/>
          <p:nvPr/>
        </p:nvSpPr>
        <p:spPr>
          <a:xfrm>
            <a:off x="990720" y="3699360"/>
            <a:ext cx="95040" cy="95040"/>
          </a:xfrm>
          <a:prstGeom prst="ellipse">
            <a:avLst/>
          </a:prstGeom>
          <a:solidFill>
            <a:srgbClr val="2f74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8" name="Text 4"/>
          <p:cNvSpPr/>
          <p:nvPr/>
        </p:nvSpPr>
        <p:spPr>
          <a:xfrm>
            <a:off x="1257480" y="3575520"/>
            <a:ext cx="8647200" cy="78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90000"/>
          </a:bodyPr>
          <a:p>
            <a:pPr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rgbClr val="19223a"/>
                </a:solidFill>
                <a:latin typeface="Arial"/>
                <a:ea typeface="Arial"/>
              </a:rPr>
              <a:t>In 2D, nodes lie on a ring and the network encodes a single heading angle.</a:t>
            </a:r>
            <a:endParaRPr b="0" lang="en-US" sz="2100" spc="-1" strike="noStrike">
              <a:latin typeface="Arial"/>
            </a:endParaRPr>
          </a:p>
        </p:txBody>
      </p:sp>
      <p:sp>
        <p:nvSpPr>
          <p:cNvPr id="79" name="Shape 5"/>
          <p:cNvSpPr/>
          <p:nvPr/>
        </p:nvSpPr>
        <p:spPr>
          <a:xfrm>
            <a:off x="990720" y="4694040"/>
            <a:ext cx="95040" cy="95040"/>
          </a:xfrm>
          <a:prstGeom prst="ellipse">
            <a:avLst/>
          </a:prstGeom>
          <a:solidFill>
            <a:srgbClr val="2f74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0" name="Text 6"/>
          <p:cNvSpPr/>
          <p:nvPr/>
        </p:nvSpPr>
        <p:spPr>
          <a:xfrm>
            <a:off x="1257480" y="4570200"/>
            <a:ext cx="8647200" cy="78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5000"/>
          </a:bodyPr>
          <a:p>
            <a:pPr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rgbClr val="19223a"/>
                </a:solidFill>
                <a:latin typeface="Arial"/>
                <a:ea typeface="Arial"/>
              </a:rPr>
              <a:t>A drone manoeuvring in 3D needs a full heading direction, not just a planar angle.</a:t>
            </a:r>
            <a:endParaRPr b="0" lang="en-US" sz="2100" spc="-1" strike="noStrike">
              <a:latin typeface="Arial"/>
            </a:endParaRPr>
          </a:p>
        </p:txBody>
      </p:sp>
      <p:sp>
        <p:nvSpPr>
          <p:cNvPr id="81" name="Shape 7"/>
          <p:cNvSpPr/>
          <p:nvPr/>
        </p:nvSpPr>
        <p:spPr>
          <a:xfrm>
            <a:off x="990720" y="5688360"/>
            <a:ext cx="95040" cy="95040"/>
          </a:xfrm>
          <a:prstGeom prst="ellipse">
            <a:avLst/>
          </a:prstGeom>
          <a:solidFill>
            <a:srgbClr val="2f74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2" name="Text 8"/>
          <p:cNvSpPr/>
          <p:nvPr/>
        </p:nvSpPr>
        <p:spPr>
          <a:xfrm>
            <a:off x="1257480" y="5564520"/>
            <a:ext cx="8647200" cy="78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2000"/>
          </a:bodyPr>
          <a:p>
            <a:pPr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rgbClr val="19223a"/>
                </a:solidFill>
                <a:latin typeface="Arial"/>
                <a:ea typeface="Arial"/>
              </a:rPr>
              <a:t>Goal: extend the 2D mean-field RAN onto the surface of a sphere for onboard heading tracking on a Crazyflie.</a:t>
            </a:r>
            <a:endParaRPr b="0" lang="en-US" sz="2100" spc="-1" strike="noStrike">
              <a:latin typeface="Arial"/>
            </a:endParaRPr>
          </a:p>
        </p:txBody>
      </p:sp>
      <p:pic>
        <p:nvPicPr>
          <p:cNvPr id="83" name="" descr=""/>
          <p:cNvPicPr/>
          <p:nvPr/>
        </p:nvPicPr>
        <p:blipFill>
          <a:blip r:embed="rId1"/>
          <a:stretch/>
        </p:blipFill>
        <p:spPr>
          <a:xfrm>
            <a:off x="10624680" y="2514600"/>
            <a:ext cx="6748920" cy="4800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Text 0"/>
          <p:cNvSpPr/>
          <p:nvPr/>
        </p:nvSpPr>
        <p:spPr>
          <a:xfrm>
            <a:off x="990720" y="876240"/>
            <a:ext cx="1793700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222" strike="noStrike">
                <a:solidFill>
                  <a:srgbClr val="2f74c0"/>
                </a:solidFill>
                <a:latin typeface="Courier New"/>
                <a:ea typeface="Courier New"/>
              </a:rPr>
              <a:t>OBJECTIVES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5" name="Text 1"/>
          <p:cNvSpPr/>
          <p:nvPr/>
        </p:nvSpPr>
        <p:spPr>
          <a:xfrm>
            <a:off x="990720" y="1305000"/>
            <a:ext cx="17937000" cy="67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1000"/>
          </a:bodyPr>
          <a:p>
            <a:pPr>
              <a:lnSpc>
                <a:spcPct val="105000"/>
              </a:lnSpc>
              <a:buNone/>
              <a:tabLst>
                <a:tab algn="l" pos="0"/>
              </a:tabLst>
            </a:pPr>
            <a:r>
              <a:rPr b="1" lang="en-US" sz="4800" spc="-38" strike="noStrike">
                <a:solidFill>
                  <a:srgbClr val="15294d"/>
                </a:solidFill>
                <a:latin typeface="Arial"/>
                <a:ea typeface="Arial"/>
              </a:rPr>
              <a:t>Project Goals</a:t>
            </a:r>
            <a:endParaRPr b="0" lang="en-US" sz="4800" spc="-1" strike="noStrike">
              <a:latin typeface="Arial"/>
            </a:endParaRPr>
          </a:p>
        </p:txBody>
      </p:sp>
      <p:sp>
        <p:nvSpPr>
          <p:cNvPr id="86" name="Shape 2"/>
          <p:cNvSpPr/>
          <p:nvPr/>
        </p:nvSpPr>
        <p:spPr>
          <a:xfrm>
            <a:off x="6242040" y="4543560"/>
            <a:ext cx="9000" cy="2801880"/>
          </a:xfrm>
          <a:prstGeom prst="rect">
            <a:avLst/>
          </a:prstGeom>
          <a:solidFill>
            <a:srgbClr val="dde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7" name="Text 3"/>
          <p:cNvSpPr/>
          <p:nvPr/>
        </p:nvSpPr>
        <p:spPr>
          <a:xfrm>
            <a:off x="990720" y="4543560"/>
            <a:ext cx="5189400" cy="72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1000"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rgbClr val="2f74c0"/>
                </a:solidFill>
                <a:latin typeface="Courier New"/>
                <a:ea typeface="Courier New"/>
              </a:rPr>
              <a:t>01</a:t>
            </a:r>
            <a:endParaRPr b="0" lang="en-US" sz="5400" spc="-1" strike="noStrike">
              <a:latin typeface="Arial"/>
            </a:endParaRPr>
          </a:p>
        </p:txBody>
      </p:sp>
      <p:sp>
        <p:nvSpPr>
          <p:cNvPr id="88" name="Text 4"/>
          <p:cNvSpPr/>
          <p:nvPr/>
        </p:nvSpPr>
        <p:spPr>
          <a:xfrm>
            <a:off x="990720" y="5457960"/>
            <a:ext cx="485928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2000"/>
          </a:bodyPr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2550" spc="-1" strike="noStrike">
                <a:solidFill>
                  <a:srgbClr val="19223a"/>
                </a:solidFill>
                <a:latin typeface="Arial"/>
                <a:ea typeface="Arial"/>
              </a:rPr>
              <a:t>Represent a full 3D heading direction as an activity bump on a spherical attractor.</a:t>
            </a:r>
            <a:endParaRPr b="0" lang="en-US" sz="2550" spc="-1" strike="noStrike">
              <a:latin typeface="Arial"/>
            </a:endParaRPr>
          </a:p>
        </p:txBody>
      </p:sp>
      <p:sp>
        <p:nvSpPr>
          <p:cNvPr id="89" name="Text 5"/>
          <p:cNvSpPr/>
          <p:nvPr/>
        </p:nvSpPr>
        <p:spPr>
          <a:xfrm>
            <a:off x="990720" y="6998040"/>
            <a:ext cx="5189400" cy="38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rgbClr val="69748c"/>
                </a:solidFill>
                <a:latin typeface="Arial"/>
                <a:ea typeface="Arial"/>
              </a:rPr>
              <a:t>Primary objective</a:t>
            </a:r>
            <a:endParaRPr b="0" lang="en-US" sz="2100" spc="-1" strike="noStrike">
              <a:latin typeface="Arial"/>
            </a:endParaRPr>
          </a:p>
        </p:txBody>
      </p:sp>
      <p:sp>
        <p:nvSpPr>
          <p:cNvPr id="90" name="Shape 6"/>
          <p:cNvSpPr/>
          <p:nvPr/>
        </p:nvSpPr>
        <p:spPr>
          <a:xfrm>
            <a:off x="12036600" y="4543560"/>
            <a:ext cx="9000" cy="2801880"/>
          </a:xfrm>
          <a:prstGeom prst="rect">
            <a:avLst/>
          </a:prstGeom>
          <a:solidFill>
            <a:srgbClr val="dde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1" name="Text 7"/>
          <p:cNvSpPr/>
          <p:nvPr/>
        </p:nvSpPr>
        <p:spPr>
          <a:xfrm>
            <a:off x="6784920" y="4543560"/>
            <a:ext cx="5189400" cy="72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1000"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rgbClr val="2f74c0"/>
                </a:solidFill>
                <a:latin typeface="Courier New"/>
                <a:ea typeface="Courier New"/>
              </a:rPr>
              <a:t>02</a:t>
            </a:r>
            <a:endParaRPr b="0" lang="en-US" sz="5400" spc="-1" strike="noStrike">
              <a:latin typeface="Arial"/>
            </a:endParaRPr>
          </a:p>
        </p:txBody>
      </p:sp>
      <p:sp>
        <p:nvSpPr>
          <p:cNvPr id="92" name="Text 8"/>
          <p:cNvSpPr/>
          <p:nvPr/>
        </p:nvSpPr>
        <p:spPr>
          <a:xfrm>
            <a:off x="6784920" y="5457960"/>
            <a:ext cx="485928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2000"/>
          </a:bodyPr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2550" spc="-1" strike="noStrike">
                <a:solidFill>
                  <a:srgbClr val="19223a"/>
                </a:solidFill>
                <a:latin typeface="Arial"/>
                <a:ea typeface="Arial"/>
              </a:rPr>
              <a:t>Select one target via winner-take-all dynamics and track its direction accurately.</a:t>
            </a:r>
            <a:endParaRPr b="0" lang="en-US" sz="2550" spc="-1" strike="noStrike">
              <a:latin typeface="Arial"/>
            </a:endParaRPr>
          </a:p>
        </p:txBody>
      </p:sp>
      <p:sp>
        <p:nvSpPr>
          <p:cNvPr id="93" name="Text 9"/>
          <p:cNvSpPr/>
          <p:nvPr/>
        </p:nvSpPr>
        <p:spPr>
          <a:xfrm>
            <a:off x="6784920" y="6998040"/>
            <a:ext cx="5189400" cy="38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rgbClr val="69748c"/>
                </a:solidFill>
                <a:latin typeface="Arial"/>
                <a:ea typeface="Arial"/>
              </a:rPr>
              <a:t>Secondary objective</a:t>
            </a:r>
            <a:endParaRPr b="0" lang="en-US" sz="2100" spc="-1" strike="noStrike">
              <a:latin typeface="Arial"/>
            </a:endParaRPr>
          </a:p>
        </p:txBody>
      </p:sp>
      <p:sp>
        <p:nvSpPr>
          <p:cNvPr id="94" name="Text 10"/>
          <p:cNvSpPr/>
          <p:nvPr/>
        </p:nvSpPr>
        <p:spPr>
          <a:xfrm>
            <a:off x="12579480" y="4543560"/>
            <a:ext cx="5189400" cy="72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1000"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rgbClr val="2f74c0"/>
                </a:solidFill>
                <a:latin typeface="Courier New"/>
                <a:ea typeface="Courier New"/>
              </a:rPr>
              <a:t>03</a:t>
            </a:r>
            <a:endParaRPr b="0" lang="en-US" sz="5400" spc="-1" strike="noStrike">
              <a:latin typeface="Arial"/>
            </a:endParaRPr>
          </a:p>
        </p:txBody>
      </p:sp>
      <p:sp>
        <p:nvSpPr>
          <p:cNvPr id="95" name="Text 11"/>
          <p:cNvSpPr/>
          <p:nvPr/>
        </p:nvSpPr>
        <p:spPr>
          <a:xfrm>
            <a:off x="12579480" y="5457960"/>
            <a:ext cx="485928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6000"/>
          </a:bodyPr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2550" spc="-1" strike="noStrike">
                <a:solidFill>
                  <a:srgbClr val="19223a"/>
                </a:solidFill>
                <a:latin typeface="Arial"/>
                <a:ea typeface="Arial"/>
              </a:rPr>
              <a:t>Observe and record flight data on real hardware, and optimize performance</a:t>
            </a:r>
            <a:endParaRPr b="0" lang="en-US" sz="2550" spc="-1" strike="noStrike">
              <a:latin typeface="Arial"/>
            </a:endParaRPr>
          </a:p>
        </p:txBody>
      </p:sp>
      <p:sp>
        <p:nvSpPr>
          <p:cNvPr id="96" name="Text 12"/>
          <p:cNvSpPr/>
          <p:nvPr/>
        </p:nvSpPr>
        <p:spPr>
          <a:xfrm>
            <a:off x="12579480" y="6998040"/>
            <a:ext cx="5189400" cy="38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rgbClr val="69748c"/>
                </a:solidFill>
                <a:latin typeface="Arial"/>
                <a:ea typeface="Arial"/>
              </a:rPr>
              <a:t>Performance target</a:t>
            </a:r>
            <a:endParaRPr b="0" lang="en-US" sz="2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 0"/>
          <p:cNvSpPr/>
          <p:nvPr/>
        </p:nvSpPr>
        <p:spPr>
          <a:xfrm>
            <a:off x="990720" y="876240"/>
            <a:ext cx="1793700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222" strike="noStrike">
                <a:solidFill>
                  <a:srgbClr val="2f74c0"/>
                </a:solidFill>
                <a:latin typeface="Courier New"/>
                <a:ea typeface="Courier New"/>
              </a:rPr>
              <a:t>METHOD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8" name="Text 1"/>
          <p:cNvSpPr/>
          <p:nvPr/>
        </p:nvSpPr>
        <p:spPr>
          <a:xfrm>
            <a:off x="990720" y="1305000"/>
            <a:ext cx="17937000" cy="67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1000"/>
          </a:bodyPr>
          <a:p>
            <a:pPr>
              <a:lnSpc>
                <a:spcPct val="105000"/>
              </a:lnSpc>
              <a:buNone/>
              <a:tabLst>
                <a:tab algn="l" pos="0"/>
              </a:tabLst>
            </a:pPr>
            <a:r>
              <a:rPr b="1" lang="en-US" sz="4800" spc="-38" strike="noStrike">
                <a:solidFill>
                  <a:srgbClr val="15294d"/>
                </a:solidFill>
                <a:latin typeface="Arial"/>
                <a:ea typeface="Arial"/>
              </a:rPr>
              <a:t>Methodology</a:t>
            </a:r>
            <a:endParaRPr b="0" lang="en-US" sz="4800" spc="-1" strike="noStrike">
              <a:latin typeface="Arial"/>
            </a:endParaRPr>
          </a:p>
        </p:txBody>
      </p:sp>
      <p:sp>
        <p:nvSpPr>
          <p:cNvPr id="99" name="Text 2"/>
          <p:cNvSpPr/>
          <p:nvPr/>
        </p:nvSpPr>
        <p:spPr>
          <a:xfrm>
            <a:off x="990720" y="3884760"/>
            <a:ext cx="917388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148" strike="noStrike">
                <a:solidFill>
                  <a:srgbClr val="2f74c0"/>
                </a:solidFill>
                <a:latin typeface="Courier New"/>
                <a:ea typeface="Courier New"/>
              </a:rPr>
              <a:t>NODE PLACEMENT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0" name="Text 3"/>
          <p:cNvSpPr/>
          <p:nvPr/>
        </p:nvSpPr>
        <p:spPr>
          <a:xfrm>
            <a:off x="990720" y="4275360"/>
            <a:ext cx="12496680" cy="98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56000"/>
          </a:bodyPr>
          <a:p>
            <a:pPr algn="just"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4000" spc="-1" strike="noStrike">
                <a:solidFill>
                  <a:srgbClr val="19223a"/>
                </a:solidFill>
                <a:latin typeface="Arial"/>
                <a:ea typeface="Arial"/>
              </a:rPr>
              <a:t>Icosphere at subdivision level n gives N = 10·4ⁿ + 2 near-equidistant, antipodally symmetric nodes.</a:t>
            </a:r>
            <a:endParaRPr b="0" lang="en-US" sz="4000" spc="-1" strike="noStrike">
              <a:latin typeface="Arial"/>
            </a:endParaRPr>
          </a:p>
        </p:txBody>
      </p:sp>
      <p:sp>
        <p:nvSpPr>
          <p:cNvPr id="101" name="Text 4"/>
          <p:cNvSpPr/>
          <p:nvPr/>
        </p:nvSpPr>
        <p:spPr>
          <a:xfrm>
            <a:off x="990720" y="5093640"/>
            <a:ext cx="917388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148" strike="noStrike">
                <a:solidFill>
                  <a:srgbClr val="2f74c0"/>
                </a:solidFill>
                <a:latin typeface="Courier New"/>
                <a:ea typeface="Courier New"/>
              </a:rPr>
              <a:t>CONNECTION KERNEL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2" name="Text 5"/>
          <p:cNvSpPr/>
          <p:nvPr/>
        </p:nvSpPr>
        <p:spPr>
          <a:xfrm>
            <a:off x="990720" y="5483880"/>
            <a:ext cx="8589960" cy="91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2000"/>
          </a:bodyPr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2550" spc="-1" strike="noStrike">
                <a:solidFill>
                  <a:srgbClr val="19223a"/>
                </a:solidFill>
                <a:latin typeface="Arial"/>
                <a:ea typeface="Arial"/>
              </a:rPr>
              <a:t>Mexican-hat kernel over geodesic distance: local excitation, global inhibition, normalized by 1/N.</a:t>
            </a:r>
            <a:endParaRPr b="0" lang="en-US" sz="2550" spc="-1" strike="noStrike">
              <a:latin typeface="Arial"/>
            </a:endParaRPr>
          </a:p>
        </p:txBody>
      </p:sp>
      <p:pic>
        <p:nvPicPr>
          <p:cNvPr id="103" name="" descr=""/>
          <p:cNvPicPr/>
          <p:nvPr/>
        </p:nvPicPr>
        <p:blipFill>
          <a:blip r:embed="rId1"/>
          <a:stretch/>
        </p:blipFill>
        <p:spPr>
          <a:xfrm>
            <a:off x="4844160" y="960840"/>
            <a:ext cx="8414640" cy="2923920"/>
          </a:xfrm>
          <a:prstGeom prst="rect">
            <a:avLst/>
          </a:prstGeom>
          <a:ln w="0">
            <a:noFill/>
          </a:ln>
        </p:spPr>
      </p:pic>
      <p:pic>
        <p:nvPicPr>
          <p:cNvPr id="104" name="" descr=""/>
          <p:cNvPicPr/>
          <p:nvPr/>
        </p:nvPicPr>
        <p:blipFill>
          <a:blip r:embed="rId2"/>
          <a:stretch/>
        </p:blipFill>
        <p:spPr>
          <a:xfrm>
            <a:off x="13487400" y="2480760"/>
            <a:ext cx="4114800" cy="4148640"/>
          </a:xfrm>
          <a:prstGeom prst="rect">
            <a:avLst/>
          </a:prstGeom>
          <a:ln w="0">
            <a:noFill/>
          </a:ln>
        </p:spPr>
      </p:pic>
      <p:pic>
        <p:nvPicPr>
          <p:cNvPr id="105" name="" descr=""/>
          <p:cNvPicPr/>
          <p:nvPr/>
        </p:nvPicPr>
        <p:blipFill>
          <a:blip r:embed="rId3"/>
          <a:stretch/>
        </p:blipFill>
        <p:spPr>
          <a:xfrm>
            <a:off x="8001000" y="6629400"/>
            <a:ext cx="9601200" cy="3315240"/>
          </a:xfrm>
          <a:prstGeom prst="rect">
            <a:avLst/>
          </a:prstGeom>
          <a:ln w="0">
            <a:noFill/>
          </a:ln>
        </p:spPr>
      </p:pic>
      <p:pic>
        <p:nvPicPr>
          <p:cNvPr id="106" name="" descr=""/>
          <p:cNvPicPr/>
          <p:nvPr/>
        </p:nvPicPr>
        <p:blipFill>
          <a:blip r:embed="rId4"/>
          <a:stretch/>
        </p:blipFill>
        <p:spPr>
          <a:xfrm>
            <a:off x="905400" y="7772400"/>
            <a:ext cx="6867000" cy="1008000"/>
          </a:xfrm>
          <a:prstGeom prst="rect">
            <a:avLst/>
          </a:prstGeom>
          <a:ln w="0">
            <a:noFill/>
          </a:ln>
        </p:spPr>
      </p:pic>
      <p:pic>
        <p:nvPicPr>
          <p:cNvPr id="107" name="" descr=""/>
          <p:cNvPicPr/>
          <p:nvPr/>
        </p:nvPicPr>
        <p:blipFill>
          <a:blip r:embed="rId5"/>
          <a:stretch/>
        </p:blipFill>
        <p:spPr>
          <a:xfrm>
            <a:off x="914400" y="6629400"/>
            <a:ext cx="3886200" cy="9565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 19"/>
          <p:cNvSpPr/>
          <p:nvPr/>
        </p:nvSpPr>
        <p:spPr>
          <a:xfrm>
            <a:off x="990720" y="876240"/>
            <a:ext cx="1793700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222" strike="noStrike">
                <a:solidFill>
                  <a:srgbClr val="2f74c0"/>
                </a:solidFill>
                <a:latin typeface="Courier New"/>
                <a:ea typeface="Courier New"/>
              </a:rPr>
              <a:t>METHOD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9" name="Text 20"/>
          <p:cNvSpPr/>
          <p:nvPr/>
        </p:nvSpPr>
        <p:spPr>
          <a:xfrm>
            <a:off x="990720" y="1305000"/>
            <a:ext cx="17937000" cy="67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1000"/>
          </a:bodyPr>
          <a:p>
            <a:pPr>
              <a:lnSpc>
                <a:spcPct val="105000"/>
              </a:lnSpc>
              <a:buNone/>
              <a:tabLst>
                <a:tab algn="l" pos="0"/>
              </a:tabLst>
            </a:pPr>
            <a:r>
              <a:rPr b="1" lang="en-US" sz="4800" spc="-38" strike="noStrike">
                <a:solidFill>
                  <a:srgbClr val="15294d"/>
                </a:solidFill>
                <a:latin typeface="Arial"/>
                <a:ea typeface="Arial"/>
              </a:rPr>
              <a:t>Methodology</a:t>
            </a:r>
            <a:endParaRPr b="0" lang="en-US" sz="4800" spc="-1" strike="noStrike">
              <a:latin typeface="Arial"/>
            </a:endParaRPr>
          </a:p>
        </p:txBody>
      </p:sp>
      <p:sp>
        <p:nvSpPr>
          <p:cNvPr id="110" name="Text 21"/>
          <p:cNvSpPr/>
          <p:nvPr/>
        </p:nvSpPr>
        <p:spPr>
          <a:xfrm>
            <a:off x="914400" y="2514600"/>
            <a:ext cx="917388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148" strike="noStrike">
                <a:solidFill>
                  <a:srgbClr val="2f74c0"/>
                </a:solidFill>
                <a:latin typeface="Courier New"/>
                <a:ea typeface="Courier New"/>
              </a:rPr>
              <a:t>Sensory Input Generation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1" name="Text 22"/>
          <p:cNvSpPr/>
          <p:nvPr/>
        </p:nvSpPr>
        <p:spPr>
          <a:xfrm>
            <a:off x="990720" y="4275360"/>
            <a:ext cx="12496680" cy="98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12" name="" descr=""/>
          <p:cNvPicPr/>
          <p:nvPr/>
        </p:nvPicPr>
        <p:blipFill>
          <a:blip r:embed="rId1"/>
          <a:stretch/>
        </p:blipFill>
        <p:spPr>
          <a:xfrm>
            <a:off x="914400" y="2971800"/>
            <a:ext cx="8915400" cy="2372040"/>
          </a:xfrm>
          <a:prstGeom prst="rect">
            <a:avLst/>
          </a:prstGeom>
          <a:ln w="0">
            <a:noFill/>
          </a:ln>
        </p:spPr>
      </p:pic>
      <p:pic>
        <p:nvPicPr>
          <p:cNvPr id="113" name="" descr=""/>
          <p:cNvPicPr/>
          <p:nvPr/>
        </p:nvPicPr>
        <p:blipFill>
          <a:blip r:embed="rId2"/>
          <a:stretch/>
        </p:blipFill>
        <p:spPr>
          <a:xfrm>
            <a:off x="0" y="6120000"/>
            <a:ext cx="10515600" cy="3024000"/>
          </a:xfrm>
          <a:prstGeom prst="rect">
            <a:avLst/>
          </a:prstGeom>
          <a:ln w="0">
            <a:noFill/>
          </a:ln>
        </p:spPr>
      </p:pic>
      <p:sp>
        <p:nvSpPr>
          <p:cNvPr id="114" name="Text 23"/>
          <p:cNvSpPr/>
          <p:nvPr/>
        </p:nvSpPr>
        <p:spPr>
          <a:xfrm>
            <a:off x="914400" y="5682600"/>
            <a:ext cx="917388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148" strike="noStrike">
                <a:solidFill>
                  <a:srgbClr val="2f74c0"/>
                </a:solidFill>
                <a:latin typeface="Courier New"/>
                <a:ea typeface="Courier New"/>
              </a:rPr>
              <a:t>RAN Dynamics</a:t>
            </a:r>
            <a:endParaRPr b="0" lang="en-US" sz="1800" spc="-1" strike="noStrike">
              <a:latin typeface="Arial"/>
            </a:endParaRPr>
          </a:p>
        </p:txBody>
      </p:sp>
      <p:pic>
        <p:nvPicPr>
          <p:cNvPr id="115" name="" descr=""/>
          <p:cNvPicPr/>
          <p:nvPr/>
        </p:nvPicPr>
        <p:blipFill>
          <a:blip r:embed="rId3"/>
          <a:stretch/>
        </p:blipFill>
        <p:spPr>
          <a:xfrm>
            <a:off x="10287000" y="4572000"/>
            <a:ext cx="8062920" cy="251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Text 0"/>
          <p:cNvSpPr/>
          <p:nvPr/>
        </p:nvSpPr>
        <p:spPr>
          <a:xfrm>
            <a:off x="990720" y="876240"/>
            <a:ext cx="1793700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222" strike="noStrike">
                <a:solidFill>
                  <a:srgbClr val="2f74c0"/>
                </a:solidFill>
                <a:latin typeface="Courier New"/>
                <a:ea typeface="Courier New"/>
              </a:rPr>
              <a:t>PIPELINE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7" name="Text 1"/>
          <p:cNvSpPr/>
          <p:nvPr/>
        </p:nvSpPr>
        <p:spPr>
          <a:xfrm>
            <a:off x="990720" y="1305000"/>
            <a:ext cx="17937000" cy="67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1000"/>
          </a:bodyPr>
          <a:p>
            <a:pPr>
              <a:lnSpc>
                <a:spcPct val="105000"/>
              </a:lnSpc>
              <a:buNone/>
              <a:tabLst>
                <a:tab algn="l" pos="0"/>
              </a:tabLst>
            </a:pPr>
            <a:r>
              <a:rPr b="1" lang="en-US" sz="4800" spc="-38" strike="noStrike">
                <a:solidFill>
                  <a:srgbClr val="15294d"/>
                </a:solidFill>
                <a:latin typeface="Arial"/>
                <a:ea typeface="Arial"/>
              </a:rPr>
              <a:t>From Sphere to Heading</a:t>
            </a:r>
            <a:endParaRPr b="0" lang="en-US" sz="4800" spc="-1" strike="noStrike">
              <a:latin typeface="Arial"/>
            </a:endParaRPr>
          </a:p>
        </p:txBody>
      </p:sp>
      <p:sp>
        <p:nvSpPr>
          <p:cNvPr id="118" name="Shape 2"/>
          <p:cNvSpPr/>
          <p:nvPr/>
        </p:nvSpPr>
        <p:spPr>
          <a:xfrm>
            <a:off x="990720" y="2364120"/>
            <a:ext cx="5130360" cy="28080"/>
          </a:xfrm>
          <a:prstGeom prst="rect">
            <a:avLst/>
          </a:prstGeom>
          <a:solidFill>
            <a:srgbClr val="2f74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9" name="Shape 3"/>
          <p:cNvSpPr/>
          <p:nvPr/>
        </p:nvSpPr>
        <p:spPr>
          <a:xfrm>
            <a:off x="990720" y="2759400"/>
            <a:ext cx="132840" cy="132840"/>
          </a:xfrm>
          <a:prstGeom prst="ellipse">
            <a:avLst/>
          </a:prstGeom>
          <a:solidFill>
            <a:srgbClr val="2f74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0" name="Text 4"/>
          <p:cNvSpPr/>
          <p:nvPr/>
        </p:nvSpPr>
        <p:spPr>
          <a:xfrm>
            <a:off x="1257480" y="2678400"/>
            <a:ext cx="137412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148" strike="noStrike">
                <a:solidFill>
                  <a:srgbClr val="2f74c0"/>
                </a:solidFill>
                <a:latin typeface="Courier New"/>
                <a:ea typeface="Courier New"/>
              </a:rPr>
              <a:t>STEP 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1" name="Text 5"/>
          <p:cNvSpPr/>
          <p:nvPr/>
        </p:nvSpPr>
        <p:spPr>
          <a:xfrm>
            <a:off x="990720" y="3202200"/>
            <a:ext cx="5643360" cy="46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550" spc="-1" strike="noStrike">
                <a:solidFill>
                  <a:srgbClr val="15294d"/>
                </a:solidFill>
                <a:latin typeface="Arial"/>
                <a:ea typeface="Arial"/>
              </a:rPr>
              <a:t>Build the Sphere</a:t>
            </a:r>
            <a:endParaRPr b="0" lang="en-US" sz="2550" spc="-1" strike="noStrike">
              <a:latin typeface="Arial"/>
            </a:endParaRPr>
          </a:p>
        </p:txBody>
      </p:sp>
      <p:sp>
        <p:nvSpPr>
          <p:cNvPr id="122" name="Text 6"/>
          <p:cNvSpPr/>
          <p:nvPr/>
        </p:nvSpPr>
        <p:spPr>
          <a:xfrm>
            <a:off x="803880" y="3854880"/>
            <a:ext cx="5393160" cy="14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rgbClr val="19223a"/>
                </a:solidFill>
                <a:latin typeface="Arial"/>
                <a:ea typeface="Arial"/>
              </a:rPr>
              <a:t>Generate icosphere nodes</a:t>
            </a:r>
            <a:endParaRPr b="0" lang="en-US" sz="2100" spc="-1" strike="noStrike">
              <a:latin typeface="Arial"/>
            </a:endParaRPr>
          </a:p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rgbClr val="19223a"/>
                </a:solidFill>
                <a:latin typeface="Arial"/>
                <a:ea typeface="Arial"/>
              </a:rPr>
              <a:t>Compute geodesic distances</a:t>
            </a:r>
            <a:endParaRPr b="0" lang="en-US" sz="2100" spc="-1" strike="noStrike">
              <a:latin typeface="Arial"/>
            </a:endParaRPr>
          </a:p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rgbClr val="19223a"/>
                </a:solidFill>
                <a:latin typeface="Arial"/>
                <a:ea typeface="Arial"/>
              </a:rPr>
              <a:t>Build the connection kernel M</a:t>
            </a:r>
            <a:endParaRPr b="0" lang="en-US" sz="2100" spc="-1" strike="noStrike">
              <a:latin typeface="Arial"/>
            </a:endParaRPr>
          </a:p>
        </p:txBody>
      </p:sp>
      <p:sp>
        <p:nvSpPr>
          <p:cNvPr id="123" name="Shape 7"/>
          <p:cNvSpPr/>
          <p:nvPr/>
        </p:nvSpPr>
        <p:spPr>
          <a:xfrm>
            <a:off x="6578640" y="2364120"/>
            <a:ext cx="5130360" cy="28080"/>
          </a:xfrm>
          <a:prstGeom prst="rect">
            <a:avLst/>
          </a:prstGeom>
          <a:solidFill>
            <a:srgbClr val="2f74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4" name="Shape 8"/>
          <p:cNvSpPr/>
          <p:nvPr/>
        </p:nvSpPr>
        <p:spPr>
          <a:xfrm>
            <a:off x="6578640" y="2759400"/>
            <a:ext cx="132840" cy="132840"/>
          </a:xfrm>
          <a:prstGeom prst="ellipse">
            <a:avLst/>
          </a:prstGeom>
          <a:solidFill>
            <a:srgbClr val="2f74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5" name="Text 9"/>
          <p:cNvSpPr/>
          <p:nvPr/>
        </p:nvSpPr>
        <p:spPr>
          <a:xfrm>
            <a:off x="6845400" y="2678400"/>
            <a:ext cx="137412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148" strike="noStrike">
                <a:solidFill>
                  <a:srgbClr val="2f74c0"/>
                </a:solidFill>
                <a:latin typeface="Courier New"/>
                <a:ea typeface="Courier New"/>
              </a:rPr>
              <a:t>STEP 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6" name="Text 10"/>
          <p:cNvSpPr/>
          <p:nvPr/>
        </p:nvSpPr>
        <p:spPr>
          <a:xfrm>
            <a:off x="6578640" y="3202200"/>
            <a:ext cx="5643360" cy="46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550" spc="-1" strike="noStrike">
                <a:solidFill>
                  <a:srgbClr val="15294d"/>
                </a:solidFill>
                <a:latin typeface="Arial"/>
                <a:ea typeface="Arial"/>
              </a:rPr>
              <a:t>Drive the Network</a:t>
            </a:r>
            <a:endParaRPr b="0" lang="en-US" sz="2550" spc="-1" strike="noStrike">
              <a:latin typeface="Arial"/>
            </a:endParaRPr>
          </a:p>
        </p:txBody>
      </p:sp>
      <p:sp>
        <p:nvSpPr>
          <p:cNvPr id="127" name="Text 11"/>
          <p:cNvSpPr/>
          <p:nvPr/>
        </p:nvSpPr>
        <p:spPr>
          <a:xfrm>
            <a:off x="6391800" y="3854880"/>
            <a:ext cx="5393160" cy="14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rgbClr val="19223a"/>
                </a:solidFill>
                <a:latin typeface="Arial"/>
                <a:ea typeface="Arial"/>
              </a:rPr>
              <a:t>Inject sensory input from targets</a:t>
            </a:r>
            <a:endParaRPr b="0" lang="en-US" sz="2100" spc="-1" strike="noStrike">
              <a:latin typeface="Arial"/>
            </a:endParaRPr>
          </a:p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rgbClr val="19223a"/>
                </a:solidFill>
                <a:latin typeface="Arial"/>
                <a:ea typeface="Arial"/>
              </a:rPr>
              <a:t>Integrate the mean-field dynamics</a:t>
            </a:r>
            <a:endParaRPr b="0" lang="en-US" sz="2100" spc="-1" strike="noStrike">
              <a:latin typeface="Arial"/>
            </a:endParaRPr>
          </a:p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rgbClr val="19223a"/>
                </a:solidFill>
                <a:latin typeface="Arial"/>
                <a:ea typeface="Arial"/>
              </a:rPr>
              <a:t>Let a stable bump form</a:t>
            </a:r>
            <a:endParaRPr b="0" lang="en-US" sz="2100" spc="-1" strike="noStrike">
              <a:latin typeface="Arial"/>
            </a:endParaRPr>
          </a:p>
        </p:txBody>
      </p:sp>
      <p:sp>
        <p:nvSpPr>
          <p:cNvPr id="128" name="Shape 12"/>
          <p:cNvSpPr/>
          <p:nvPr/>
        </p:nvSpPr>
        <p:spPr>
          <a:xfrm>
            <a:off x="12166560" y="2364120"/>
            <a:ext cx="5130360" cy="28080"/>
          </a:xfrm>
          <a:prstGeom prst="rect">
            <a:avLst/>
          </a:prstGeom>
          <a:solidFill>
            <a:srgbClr val="2f74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9" name="Shape 13"/>
          <p:cNvSpPr/>
          <p:nvPr/>
        </p:nvSpPr>
        <p:spPr>
          <a:xfrm>
            <a:off x="12166560" y="2759400"/>
            <a:ext cx="132840" cy="132840"/>
          </a:xfrm>
          <a:prstGeom prst="ellipse">
            <a:avLst/>
          </a:prstGeom>
          <a:solidFill>
            <a:srgbClr val="2f74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0" name="Text 14"/>
          <p:cNvSpPr/>
          <p:nvPr/>
        </p:nvSpPr>
        <p:spPr>
          <a:xfrm>
            <a:off x="12433320" y="2678400"/>
            <a:ext cx="137412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148" strike="noStrike">
                <a:solidFill>
                  <a:srgbClr val="2f74c0"/>
                </a:solidFill>
                <a:latin typeface="Courier New"/>
                <a:ea typeface="Courier New"/>
              </a:rPr>
              <a:t>STEP 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1" name="Text 15"/>
          <p:cNvSpPr/>
          <p:nvPr/>
        </p:nvSpPr>
        <p:spPr>
          <a:xfrm>
            <a:off x="12166560" y="3202200"/>
            <a:ext cx="5643360" cy="46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550" spc="-1" strike="noStrike">
                <a:solidFill>
                  <a:srgbClr val="15294d"/>
                </a:solidFill>
                <a:latin typeface="Arial"/>
                <a:ea typeface="Arial"/>
              </a:rPr>
              <a:t>Read the Heading</a:t>
            </a:r>
            <a:endParaRPr b="0" lang="en-US" sz="2550" spc="-1" strike="noStrike">
              <a:latin typeface="Arial"/>
            </a:endParaRPr>
          </a:p>
        </p:txBody>
      </p:sp>
      <p:sp>
        <p:nvSpPr>
          <p:cNvPr id="132" name="Text 16"/>
          <p:cNvSpPr/>
          <p:nvPr/>
        </p:nvSpPr>
        <p:spPr>
          <a:xfrm>
            <a:off x="11980080" y="3854880"/>
            <a:ext cx="5393160" cy="14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rgbClr val="19223a"/>
                </a:solidFill>
                <a:latin typeface="Arial"/>
                <a:ea typeface="Arial"/>
              </a:rPr>
              <a:t>Decode the population vector</a:t>
            </a:r>
            <a:endParaRPr b="0" lang="en-US" sz="2100" spc="-1" strike="noStrike">
              <a:latin typeface="Arial"/>
            </a:endParaRPr>
          </a:p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rgbClr val="19223a"/>
                </a:solidFill>
                <a:latin typeface="Arial"/>
                <a:ea typeface="Arial"/>
              </a:rPr>
              <a:t>Sweep parameters (u, σ, κ, v, γ)</a:t>
            </a:r>
            <a:endParaRPr b="0" lang="en-US" sz="2100" spc="-1" strike="noStrike">
              <a:latin typeface="Arial"/>
            </a:endParaRPr>
          </a:p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rgbClr val="19223a"/>
                </a:solidFill>
                <a:latin typeface="Arial"/>
                <a:ea typeface="Arial"/>
              </a:rPr>
              <a:t>Benchmark real-time performance</a:t>
            </a:r>
            <a:endParaRPr b="0" lang="en-US" sz="2100" spc="-1" strike="noStrike">
              <a:latin typeface="Arial"/>
            </a:endParaRPr>
          </a:p>
        </p:txBody>
      </p:sp>
      <p:pic>
        <p:nvPicPr>
          <p:cNvPr id="133" name="" descr=""/>
          <p:cNvPicPr/>
          <p:nvPr/>
        </p:nvPicPr>
        <p:blipFill>
          <a:blip r:embed="rId1"/>
          <a:stretch/>
        </p:blipFill>
        <p:spPr>
          <a:xfrm>
            <a:off x="3200400" y="5649840"/>
            <a:ext cx="10972800" cy="2351160"/>
          </a:xfrm>
          <a:prstGeom prst="rect">
            <a:avLst/>
          </a:prstGeom>
          <a:ln w="0">
            <a:noFill/>
          </a:ln>
        </p:spPr>
      </p:pic>
      <p:pic>
        <p:nvPicPr>
          <p:cNvPr id="134" name="" descr=""/>
          <p:cNvPicPr/>
          <p:nvPr/>
        </p:nvPicPr>
        <p:blipFill>
          <a:blip r:embed="rId2"/>
          <a:stretch/>
        </p:blipFill>
        <p:spPr>
          <a:xfrm>
            <a:off x="3219840" y="8153640"/>
            <a:ext cx="11410560" cy="1149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extBox 1"/>
          <p:cNvSpPr/>
          <p:nvPr/>
        </p:nvSpPr>
        <p:spPr>
          <a:xfrm>
            <a:off x="990720" y="876240"/>
            <a:ext cx="16306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800" spc="222" strike="noStrike">
                <a:solidFill>
                  <a:srgbClr val="2f74c0"/>
                </a:solidFill>
                <a:latin typeface="Courier New"/>
              </a:rPr>
              <a:t>VISUALIZATION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6" name="TextBox 2"/>
          <p:cNvSpPr/>
          <p:nvPr/>
        </p:nvSpPr>
        <p:spPr>
          <a:xfrm>
            <a:off x="990720" y="1305000"/>
            <a:ext cx="163065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4000" spc="-1" strike="noStrike">
                <a:solidFill>
                  <a:srgbClr val="15294d"/>
                </a:solidFill>
                <a:latin typeface="Arial"/>
              </a:rPr>
              <a:t>Network Dynamics on the Sphere</a:t>
            </a:r>
            <a:endParaRPr b="0" lang="en-US" sz="4000" spc="-1" strike="noStrike">
              <a:latin typeface="Arial"/>
            </a:endParaRPr>
          </a:p>
        </p:txBody>
      </p:sp>
      <p:pic>
        <p:nvPicPr>
          <p:cNvPr id="137" name="Picture 3" descr="Screenshot from 2026-06-24 16-40-27.png"/>
          <p:cNvPicPr/>
          <p:nvPr/>
        </p:nvPicPr>
        <p:blipFill>
          <a:blip r:embed="rId1"/>
          <a:stretch/>
        </p:blipFill>
        <p:spPr>
          <a:xfrm>
            <a:off x="3478680" y="2379960"/>
            <a:ext cx="2996640" cy="3319560"/>
          </a:xfrm>
          <a:prstGeom prst="rect">
            <a:avLst/>
          </a:prstGeom>
          <a:ln w="0">
            <a:noFill/>
          </a:ln>
        </p:spPr>
      </p:pic>
      <p:sp>
        <p:nvSpPr>
          <p:cNvPr id="138" name="TextBox 4"/>
          <p:cNvSpPr/>
          <p:nvPr/>
        </p:nvSpPr>
        <p:spPr>
          <a:xfrm>
            <a:off x="990720" y="5699880"/>
            <a:ext cx="797292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69748c"/>
                </a:solidFill>
                <a:latin typeface="Arial"/>
              </a:rPr>
              <a:t>Sensory input on the sphere</a:t>
            </a:r>
            <a:endParaRPr b="0" lang="en-US" sz="1400" spc="-1" strike="noStrike">
              <a:latin typeface="Arial"/>
            </a:endParaRPr>
          </a:p>
        </p:txBody>
      </p:sp>
      <p:pic>
        <p:nvPicPr>
          <p:cNvPr id="139" name="Picture 5" descr="Screenshot from 2026-06-24 16-40-56.png"/>
          <p:cNvPicPr/>
          <p:nvPr/>
        </p:nvPicPr>
        <p:blipFill>
          <a:blip r:embed="rId2"/>
          <a:stretch/>
        </p:blipFill>
        <p:spPr>
          <a:xfrm>
            <a:off x="11812320" y="2379960"/>
            <a:ext cx="2996640" cy="3319560"/>
          </a:xfrm>
          <a:prstGeom prst="rect">
            <a:avLst/>
          </a:prstGeom>
          <a:ln w="0">
            <a:noFill/>
          </a:ln>
        </p:spPr>
      </p:pic>
      <p:sp>
        <p:nvSpPr>
          <p:cNvPr id="140" name="TextBox 6"/>
          <p:cNvSpPr/>
          <p:nvPr/>
        </p:nvSpPr>
        <p:spPr>
          <a:xfrm>
            <a:off x="9324000" y="5699880"/>
            <a:ext cx="797292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69748c"/>
                </a:solidFill>
                <a:latin typeface="Arial"/>
              </a:rPr>
              <a:t>Activation bump + decoded heading (red)</a:t>
            </a:r>
            <a:endParaRPr b="0" lang="en-US" sz="1400" spc="-1" strike="noStrike">
              <a:latin typeface="Arial"/>
            </a:endParaRPr>
          </a:p>
        </p:txBody>
      </p:sp>
      <p:pic>
        <p:nvPicPr>
          <p:cNvPr id="141" name="Picture 7" descr="Screenshot from 2026-06-24 16-41-24.png"/>
          <p:cNvPicPr/>
          <p:nvPr/>
        </p:nvPicPr>
        <p:blipFill>
          <a:blip r:embed="rId3"/>
          <a:stretch/>
        </p:blipFill>
        <p:spPr>
          <a:xfrm>
            <a:off x="3353040" y="6300000"/>
            <a:ext cx="3248280" cy="3319560"/>
          </a:xfrm>
          <a:prstGeom prst="rect">
            <a:avLst/>
          </a:prstGeom>
          <a:ln w="0">
            <a:noFill/>
          </a:ln>
        </p:spPr>
      </p:pic>
      <p:sp>
        <p:nvSpPr>
          <p:cNvPr id="142" name="TextBox 8"/>
          <p:cNvSpPr/>
          <p:nvPr/>
        </p:nvSpPr>
        <p:spPr>
          <a:xfrm>
            <a:off x="990720" y="9619920"/>
            <a:ext cx="797292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69748c"/>
                </a:solidFill>
                <a:latin typeface="Arial"/>
              </a:rPr>
              <a:t>Sensory input — φ / θ surface</a:t>
            </a:r>
            <a:endParaRPr b="0" lang="en-US" sz="1400" spc="-1" strike="noStrike">
              <a:latin typeface="Arial"/>
            </a:endParaRPr>
          </a:p>
        </p:txBody>
      </p:sp>
      <p:pic>
        <p:nvPicPr>
          <p:cNvPr id="143" name="Picture 9" descr="Screenshot from 2026-06-24 16-41-12.png"/>
          <p:cNvPicPr/>
          <p:nvPr/>
        </p:nvPicPr>
        <p:blipFill>
          <a:blip r:embed="rId4"/>
          <a:stretch/>
        </p:blipFill>
        <p:spPr>
          <a:xfrm>
            <a:off x="11686320" y="6300000"/>
            <a:ext cx="3248280" cy="3319560"/>
          </a:xfrm>
          <a:prstGeom prst="rect">
            <a:avLst/>
          </a:prstGeom>
          <a:ln w="0">
            <a:noFill/>
          </a:ln>
        </p:spPr>
      </p:pic>
      <p:sp>
        <p:nvSpPr>
          <p:cNvPr id="144" name="TextBox 10"/>
          <p:cNvSpPr/>
          <p:nvPr/>
        </p:nvSpPr>
        <p:spPr>
          <a:xfrm>
            <a:off x="9324000" y="9619920"/>
            <a:ext cx="797292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69748c"/>
                </a:solidFill>
                <a:latin typeface="Arial"/>
              </a:rPr>
              <a:t>Activation strength — φ / θ surface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TextBox 1"/>
          <p:cNvSpPr/>
          <p:nvPr/>
        </p:nvSpPr>
        <p:spPr>
          <a:xfrm>
            <a:off x="990720" y="876240"/>
            <a:ext cx="16306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800" spc="222" strike="noStrike">
                <a:solidFill>
                  <a:srgbClr val="2f74c0"/>
                </a:solidFill>
                <a:latin typeface="Courier New"/>
              </a:rPr>
              <a:t>BY THE NUMBERS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46" name="TextBox 2"/>
          <p:cNvSpPr/>
          <p:nvPr/>
        </p:nvSpPr>
        <p:spPr>
          <a:xfrm>
            <a:off x="990720" y="1305000"/>
            <a:ext cx="163065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4000" spc="-1" strike="noStrike">
                <a:solidFill>
                  <a:srgbClr val="15294d"/>
                </a:solidFill>
                <a:latin typeface="Arial"/>
              </a:rPr>
              <a:t>Quantitative Results &amp; Benchmarks</a:t>
            </a:r>
            <a:endParaRPr b="0" lang="en-US" sz="4000" spc="-1" strike="noStrike">
              <a:latin typeface="Arial"/>
            </a:endParaRPr>
          </a:p>
        </p:txBody>
      </p:sp>
      <p:pic>
        <p:nvPicPr>
          <p:cNvPr id="147" name="Picture 3" descr="Screenshot from 2026-06-24 17-05-09.png"/>
          <p:cNvPicPr/>
          <p:nvPr/>
        </p:nvPicPr>
        <p:blipFill>
          <a:blip r:embed="rId1"/>
          <a:stretch/>
        </p:blipFill>
        <p:spPr>
          <a:xfrm>
            <a:off x="1828800" y="2317680"/>
            <a:ext cx="7315200" cy="7283520"/>
          </a:xfrm>
          <a:prstGeom prst="rect">
            <a:avLst/>
          </a:prstGeom>
          <a:ln w="0">
            <a:noFill/>
          </a:ln>
        </p:spPr>
      </p:pic>
      <p:pic>
        <p:nvPicPr>
          <p:cNvPr id="148" name="Picture 4" descr="Screenshot from 2026-06-24 17-05-18.png"/>
          <p:cNvPicPr/>
          <p:nvPr/>
        </p:nvPicPr>
        <p:blipFill>
          <a:blip r:embed="rId2"/>
          <a:stretch/>
        </p:blipFill>
        <p:spPr>
          <a:xfrm>
            <a:off x="10022760" y="2054880"/>
            <a:ext cx="7579440" cy="7546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TextBox 3"/>
          <p:cNvSpPr/>
          <p:nvPr/>
        </p:nvSpPr>
        <p:spPr>
          <a:xfrm>
            <a:off x="990720" y="876240"/>
            <a:ext cx="16306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800" spc="222" strike="noStrike">
                <a:solidFill>
                  <a:srgbClr val="2f74c0"/>
                </a:solidFill>
                <a:latin typeface="Courier New"/>
              </a:rPr>
              <a:t>BY THE NUMBERS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50" name="TextBox 5"/>
          <p:cNvSpPr/>
          <p:nvPr/>
        </p:nvSpPr>
        <p:spPr>
          <a:xfrm>
            <a:off x="990720" y="1305000"/>
            <a:ext cx="163065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4000" spc="-1" strike="noStrike">
                <a:solidFill>
                  <a:srgbClr val="15294d"/>
                </a:solidFill>
                <a:latin typeface="Arial"/>
              </a:rPr>
              <a:t>Quantitative Results &amp; Benchmarks</a:t>
            </a:r>
            <a:endParaRPr b="0" lang="en-US" sz="4000" spc="-1" strike="noStrike">
              <a:latin typeface="Arial"/>
            </a:endParaRPr>
          </a:p>
        </p:txBody>
      </p:sp>
      <p:pic>
        <p:nvPicPr>
          <p:cNvPr id="151" name="Picture 6" descr="Screenshot from 2026-06-24 16-42-22.png"/>
          <p:cNvPicPr/>
          <p:nvPr/>
        </p:nvPicPr>
        <p:blipFill>
          <a:blip r:embed="rId1"/>
          <a:stretch/>
        </p:blipFill>
        <p:spPr>
          <a:xfrm>
            <a:off x="8677800" y="2385360"/>
            <a:ext cx="9381600" cy="7445880"/>
          </a:xfrm>
          <a:prstGeom prst="rect">
            <a:avLst/>
          </a:prstGeom>
          <a:ln w="0">
            <a:noFill/>
          </a:ln>
        </p:spPr>
      </p:pic>
      <p:sp>
        <p:nvSpPr>
          <p:cNvPr id="152" name="TextBox 13"/>
          <p:cNvSpPr/>
          <p:nvPr/>
        </p:nvSpPr>
        <p:spPr>
          <a:xfrm>
            <a:off x="11658600" y="9755640"/>
            <a:ext cx="386640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69748c"/>
                </a:solidFill>
                <a:latin typeface="Arial"/>
              </a:rPr>
              <a:t>Phase error vs quality γ</a:t>
            </a:r>
            <a:endParaRPr b="0" lang="en-US" sz="1400" spc="-1" strike="noStrike">
              <a:latin typeface="Arial"/>
            </a:endParaRPr>
          </a:p>
        </p:txBody>
      </p:sp>
      <p:pic>
        <p:nvPicPr>
          <p:cNvPr id="153" name="Picture 1" descr="Screenshot from 2026-06-24 16-42-11.png"/>
          <p:cNvPicPr/>
          <p:nvPr/>
        </p:nvPicPr>
        <p:blipFill>
          <a:blip r:embed="rId2"/>
          <a:stretch/>
        </p:blipFill>
        <p:spPr>
          <a:xfrm>
            <a:off x="1193760" y="2286000"/>
            <a:ext cx="7035840" cy="7607520"/>
          </a:xfrm>
          <a:prstGeom prst="rect">
            <a:avLst/>
          </a:prstGeom>
          <a:ln w="0">
            <a:noFill/>
          </a:ln>
        </p:spPr>
      </p:pic>
      <p:pic>
        <p:nvPicPr>
          <p:cNvPr id="154" name="" descr=""/>
          <p:cNvPicPr/>
          <p:nvPr/>
        </p:nvPicPr>
        <p:blipFill>
          <a:blip r:embed="rId3"/>
          <a:stretch/>
        </p:blipFill>
        <p:spPr>
          <a:xfrm>
            <a:off x="1143000" y="2057400"/>
            <a:ext cx="7158960" cy="8001000"/>
          </a:xfrm>
          <a:prstGeom prst="rect">
            <a:avLst/>
          </a:prstGeom>
          <a:ln w="0">
            <a:noFill/>
          </a:ln>
        </p:spPr>
      </p:pic>
      <p:pic>
        <p:nvPicPr>
          <p:cNvPr id="155" name="" descr=""/>
          <p:cNvPicPr/>
          <p:nvPr/>
        </p:nvPicPr>
        <p:blipFill>
          <a:blip r:embed="rId4"/>
          <a:stretch/>
        </p:blipFill>
        <p:spPr>
          <a:xfrm>
            <a:off x="1143000" y="2057400"/>
            <a:ext cx="7086600" cy="7833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TextBox 15"/>
          <p:cNvSpPr/>
          <p:nvPr/>
        </p:nvSpPr>
        <p:spPr>
          <a:xfrm>
            <a:off x="990720" y="876240"/>
            <a:ext cx="16306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800" spc="222" strike="noStrike">
                <a:solidFill>
                  <a:srgbClr val="2f74c0"/>
                </a:solidFill>
                <a:latin typeface="Courier New"/>
              </a:rPr>
              <a:t>BY THE NUMBERS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57" name="TextBox 22"/>
          <p:cNvSpPr/>
          <p:nvPr/>
        </p:nvSpPr>
        <p:spPr>
          <a:xfrm>
            <a:off x="990720" y="1305000"/>
            <a:ext cx="163065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4000" spc="-1" strike="noStrike">
                <a:solidFill>
                  <a:srgbClr val="15294d"/>
                </a:solidFill>
                <a:latin typeface="Arial"/>
              </a:rPr>
              <a:t>Quantitative Results &amp; Benchmarks</a:t>
            </a:r>
            <a:endParaRPr b="0" lang="en-US" sz="4000" spc="-1" strike="noStrike">
              <a:latin typeface="Arial"/>
            </a:endParaRPr>
          </a:p>
        </p:txBody>
      </p:sp>
      <p:sp>
        <p:nvSpPr>
          <p:cNvPr id="158" name="TextBox 27"/>
          <p:cNvSpPr/>
          <p:nvPr/>
        </p:nvSpPr>
        <p:spPr>
          <a:xfrm>
            <a:off x="457200" y="3886200"/>
            <a:ext cx="16306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2f74c0"/>
                </a:solidFill>
                <a:latin typeface="Courier New"/>
              </a:rPr>
              <a:t>BENCHMARK — 400-step static RAN run, 100 trials</a:t>
            </a:r>
            <a:endParaRPr b="0" lang="en-US" sz="1800" spc="-1" strike="noStrike">
              <a:latin typeface="Arial"/>
            </a:endParaRPr>
          </a:p>
        </p:txBody>
      </p:sp>
      <p:pic>
        <p:nvPicPr>
          <p:cNvPr id="159" name="Picture 20" descr="Screenshot from 2026-06-24 16-48-48.png"/>
          <p:cNvPicPr/>
          <p:nvPr/>
        </p:nvPicPr>
        <p:blipFill>
          <a:blip r:embed="rId1"/>
          <a:stretch/>
        </p:blipFill>
        <p:spPr>
          <a:xfrm>
            <a:off x="3657600" y="4343400"/>
            <a:ext cx="10403280" cy="2496600"/>
          </a:xfrm>
          <a:prstGeom prst="rect">
            <a:avLst/>
          </a:prstGeom>
          <a:ln w="0">
            <a:noFill/>
          </a:ln>
        </p:spPr>
      </p:pic>
      <p:pic>
        <p:nvPicPr>
          <p:cNvPr id="160" name="" descr=""/>
          <p:cNvPicPr/>
          <p:nvPr/>
        </p:nvPicPr>
        <p:blipFill>
          <a:blip r:embed="rId2"/>
          <a:stretch/>
        </p:blipFill>
        <p:spPr>
          <a:xfrm>
            <a:off x="3600720" y="4343400"/>
            <a:ext cx="10460160" cy="3040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529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Shape 0"/>
          <p:cNvSpPr/>
          <p:nvPr/>
        </p:nvSpPr>
        <p:spPr>
          <a:xfrm>
            <a:off x="990720" y="938160"/>
            <a:ext cx="171000" cy="171000"/>
          </a:xfrm>
          <a:prstGeom prst="roundRect">
            <a:avLst>
              <a:gd name="adj" fmla="val 16667"/>
            </a:avLst>
          </a:prstGeom>
          <a:solidFill>
            <a:srgbClr val="2f74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2" name="Text 1"/>
          <p:cNvSpPr/>
          <p:nvPr/>
        </p:nvSpPr>
        <p:spPr>
          <a:xfrm>
            <a:off x="1314360" y="876240"/>
            <a:ext cx="601596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222" strike="noStrike">
                <a:solidFill>
                  <a:srgbClr val="2f74c0"/>
                </a:solidFill>
                <a:latin typeface="Courier New"/>
                <a:ea typeface="Courier New"/>
              </a:rPr>
              <a:t>RING ATTRACTOR NETWORKS · 2026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63" name="Text 2"/>
          <p:cNvSpPr/>
          <p:nvPr/>
        </p:nvSpPr>
        <p:spPr>
          <a:xfrm>
            <a:off x="990720" y="3802680"/>
            <a:ext cx="17937000" cy="13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7800" spc="-114" strike="noStrike">
                <a:solidFill>
                  <a:srgbClr val="ffffff"/>
                </a:solidFill>
                <a:latin typeface="Arial"/>
                <a:ea typeface="Arial"/>
              </a:rPr>
              <a:t>Thank you</a:t>
            </a:r>
            <a:endParaRPr b="0" lang="en-US" sz="7800" spc="-1" strike="noStrike">
              <a:latin typeface="Arial"/>
            </a:endParaRPr>
          </a:p>
        </p:txBody>
      </p:sp>
      <p:sp>
        <p:nvSpPr>
          <p:cNvPr id="164" name="Text 3"/>
          <p:cNvSpPr/>
          <p:nvPr/>
        </p:nvSpPr>
        <p:spPr>
          <a:xfrm>
            <a:off x="990720" y="5279400"/>
            <a:ext cx="17937000" cy="58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rgbClr val="aab6cc"/>
                </a:solidFill>
                <a:latin typeface="Arial"/>
                <a:ea typeface="Arial"/>
              </a:rPr>
              <a:t>Questions &amp; discussion</a:t>
            </a:r>
            <a:endParaRPr b="0" lang="en-US" sz="3300" spc="-1" strike="noStrike">
              <a:latin typeface="Arial"/>
            </a:endParaRPr>
          </a:p>
        </p:txBody>
      </p:sp>
      <p:sp>
        <p:nvSpPr>
          <p:cNvPr id="165" name="Shape 4"/>
          <p:cNvSpPr/>
          <p:nvPr/>
        </p:nvSpPr>
        <p:spPr>
          <a:xfrm>
            <a:off x="990720" y="8453520"/>
            <a:ext cx="16306560" cy="9000"/>
          </a:xfrm>
          <a:prstGeom prst="rect">
            <a:avLst/>
          </a:prstGeom>
          <a:solidFill>
            <a:srgbClr val="ffffff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6" name="Text 5"/>
          <p:cNvSpPr/>
          <p:nvPr/>
        </p:nvSpPr>
        <p:spPr>
          <a:xfrm>
            <a:off x="990720" y="8786880"/>
            <a:ext cx="283500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148" strike="noStrike">
                <a:solidFill>
                  <a:srgbClr val="2f74c0"/>
                </a:solidFill>
                <a:latin typeface="Courier New"/>
                <a:ea typeface="Courier New"/>
              </a:rPr>
              <a:t>CONTACT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67" name="Text 6"/>
          <p:cNvSpPr/>
          <p:nvPr/>
        </p:nvSpPr>
        <p:spPr>
          <a:xfrm>
            <a:off x="990720" y="9177480"/>
            <a:ext cx="2835000" cy="38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53000"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rgbClr val="e6ebf3"/>
                </a:solidFill>
                <a:latin typeface="Arial"/>
                <a:ea typeface="Arial"/>
              </a:rPr>
              <a:t>Noah Ginzburg · noah.ginzburg@gmail.com</a:t>
            </a:r>
            <a:endParaRPr b="0" lang="en-US" sz="2100" spc="-1" strike="noStrike">
              <a:latin typeface="Arial"/>
            </a:endParaRPr>
          </a:p>
        </p:txBody>
      </p:sp>
      <p:sp>
        <p:nvSpPr>
          <p:cNvPr id="168" name="Text 7"/>
          <p:cNvSpPr/>
          <p:nvPr/>
        </p:nvSpPr>
        <p:spPr>
          <a:xfrm>
            <a:off x="4406400" y="8786880"/>
            <a:ext cx="741420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148" strike="noStrike">
                <a:solidFill>
                  <a:srgbClr val="2f74c0"/>
                </a:solidFill>
                <a:latin typeface="Courier New"/>
                <a:ea typeface="Courier New"/>
              </a:rPr>
              <a:t>ACKNOWLEDGEMENTS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69" name="Text 8"/>
          <p:cNvSpPr/>
          <p:nvPr/>
        </p:nvSpPr>
        <p:spPr>
          <a:xfrm>
            <a:off x="4406400" y="9177480"/>
            <a:ext cx="7414200" cy="38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rgbClr val="e6ebf3"/>
                </a:solidFill>
                <a:latin typeface="Arial"/>
                <a:ea typeface="Arial"/>
              </a:rPr>
              <a:t>Thanks to [Advisor], [Team], and [Lab] for their support.</a:t>
            </a:r>
            <a:endParaRPr b="0" lang="en-US" sz="2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Text 0"/>
          <p:cNvSpPr/>
          <p:nvPr/>
        </p:nvSpPr>
        <p:spPr>
          <a:xfrm>
            <a:off x="990720" y="876240"/>
            <a:ext cx="1793700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222" strike="noStrike">
                <a:solidFill>
                  <a:srgbClr val="2f74c0"/>
                </a:solidFill>
                <a:latin typeface="Courier New"/>
                <a:ea typeface="Courier New"/>
              </a:rPr>
              <a:t>REFLECTION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71" name="Text 1"/>
          <p:cNvSpPr/>
          <p:nvPr/>
        </p:nvSpPr>
        <p:spPr>
          <a:xfrm>
            <a:off x="990720" y="1305000"/>
            <a:ext cx="17937000" cy="67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1000"/>
          </a:bodyPr>
          <a:p>
            <a:pPr>
              <a:lnSpc>
                <a:spcPct val="105000"/>
              </a:lnSpc>
              <a:buNone/>
              <a:tabLst>
                <a:tab algn="l" pos="0"/>
              </a:tabLst>
            </a:pPr>
            <a:r>
              <a:rPr b="1" lang="en-US" sz="4800" spc="-38" strike="noStrike">
                <a:solidFill>
                  <a:srgbClr val="15294d"/>
                </a:solidFill>
                <a:latin typeface="Arial"/>
                <a:ea typeface="Arial"/>
              </a:rPr>
              <a:t>Challenges &amp; Learnings</a:t>
            </a:r>
            <a:endParaRPr b="0" lang="en-US" sz="4800" spc="-1" strike="noStrike">
              <a:latin typeface="Arial"/>
            </a:endParaRPr>
          </a:p>
        </p:txBody>
      </p:sp>
      <p:sp>
        <p:nvSpPr>
          <p:cNvPr id="172" name="Text 2"/>
          <p:cNvSpPr/>
          <p:nvPr/>
        </p:nvSpPr>
        <p:spPr>
          <a:xfrm>
            <a:off x="990720" y="2364120"/>
            <a:ext cx="854928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148" strike="noStrike">
                <a:solidFill>
                  <a:srgbClr val="2f74c0"/>
                </a:solidFill>
                <a:latin typeface="Courier New"/>
                <a:ea typeface="Courier New"/>
              </a:rPr>
              <a:t>CHALLENGES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73" name="Shape 3"/>
          <p:cNvSpPr/>
          <p:nvPr/>
        </p:nvSpPr>
        <p:spPr>
          <a:xfrm>
            <a:off x="990720" y="3049920"/>
            <a:ext cx="95040" cy="95040"/>
          </a:xfrm>
          <a:prstGeom prst="ellipse">
            <a:avLst/>
          </a:prstGeom>
          <a:solidFill>
            <a:srgbClr val="2f74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4" name="Text 4"/>
          <p:cNvSpPr/>
          <p:nvPr/>
        </p:nvSpPr>
        <p:spPr>
          <a:xfrm>
            <a:off x="1257480" y="2818080"/>
            <a:ext cx="7886520" cy="96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rgbClr val="19223a"/>
                </a:solidFill>
                <a:latin typeface="Arial"/>
                <a:ea typeface="Arial"/>
              </a:rPr>
              <a:t>Discretization bias: a target between nodes gets a wider sensory input bump and is selected over 50% of the time.</a:t>
            </a:r>
            <a:endParaRPr b="0" lang="en-US" sz="2100" spc="-1" strike="noStrike">
              <a:latin typeface="Arial"/>
            </a:endParaRPr>
          </a:p>
        </p:txBody>
      </p:sp>
      <p:sp>
        <p:nvSpPr>
          <p:cNvPr id="175" name="Shape 5"/>
          <p:cNvSpPr/>
          <p:nvPr/>
        </p:nvSpPr>
        <p:spPr>
          <a:xfrm>
            <a:off x="990720" y="4025160"/>
            <a:ext cx="95040" cy="95040"/>
          </a:xfrm>
          <a:prstGeom prst="ellipse">
            <a:avLst/>
          </a:prstGeom>
          <a:solidFill>
            <a:srgbClr val="2f74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6" name="Text 6"/>
          <p:cNvSpPr/>
          <p:nvPr/>
        </p:nvSpPr>
        <p:spPr>
          <a:xfrm>
            <a:off x="1257480" y="3793320"/>
            <a:ext cx="7657920" cy="11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rgbClr val="19223a"/>
                </a:solidFill>
                <a:latin typeface="Arial"/>
                <a:ea typeface="Arial"/>
              </a:rPr>
              <a:t>The 2D critical-gain formula u_crit = 1/(λ_max·sech²β) does not predict the 3D bifurcation.</a:t>
            </a:r>
            <a:endParaRPr b="0" lang="en-US" sz="2100" spc="-1" strike="noStrike">
              <a:latin typeface="Arial"/>
            </a:endParaRPr>
          </a:p>
        </p:txBody>
      </p:sp>
      <p:sp>
        <p:nvSpPr>
          <p:cNvPr id="177" name="Shape 7"/>
          <p:cNvSpPr/>
          <p:nvPr/>
        </p:nvSpPr>
        <p:spPr>
          <a:xfrm>
            <a:off x="990720" y="4951080"/>
            <a:ext cx="95040" cy="95040"/>
          </a:xfrm>
          <a:prstGeom prst="ellipse">
            <a:avLst/>
          </a:prstGeom>
          <a:solidFill>
            <a:srgbClr val="2f74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8" name="Text 8"/>
          <p:cNvSpPr/>
          <p:nvPr/>
        </p:nvSpPr>
        <p:spPr>
          <a:xfrm>
            <a:off x="1257480" y="4791600"/>
            <a:ext cx="8343720" cy="326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rgbClr val="19223a"/>
                </a:solidFill>
                <a:latin typeface="Arial"/>
                <a:ea typeface="Arial"/>
              </a:rPr>
              <a:t>Kernel amplitude must be tuned and 1/N-normalized to keep behaviour stable across resolutions.</a:t>
            </a:r>
            <a:endParaRPr b="0" lang="en-US" sz="2100" spc="-1" strike="noStrike">
              <a:latin typeface="Arial"/>
            </a:endParaRPr>
          </a:p>
        </p:txBody>
      </p:sp>
      <p:sp>
        <p:nvSpPr>
          <p:cNvPr id="179" name="Text 9"/>
          <p:cNvSpPr/>
          <p:nvPr/>
        </p:nvSpPr>
        <p:spPr>
          <a:xfrm>
            <a:off x="9524880" y="2364120"/>
            <a:ext cx="854928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148" strike="noStrike">
                <a:solidFill>
                  <a:srgbClr val="2f74c0"/>
                </a:solidFill>
                <a:latin typeface="Courier New"/>
                <a:ea typeface="Courier New"/>
              </a:rPr>
              <a:t>WHAT I LEARNED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80" name="Shape 10"/>
          <p:cNvSpPr/>
          <p:nvPr/>
        </p:nvSpPr>
        <p:spPr>
          <a:xfrm>
            <a:off x="9524880" y="3049920"/>
            <a:ext cx="95040" cy="95040"/>
          </a:xfrm>
          <a:prstGeom prst="ellipse">
            <a:avLst/>
          </a:prstGeom>
          <a:solidFill>
            <a:srgbClr val="2f74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1" name="Text 11"/>
          <p:cNvSpPr/>
          <p:nvPr/>
        </p:nvSpPr>
        <p:spPr>
          <a:xfrm>
            <a:off x="9791640" y="2926080"/>
            <a:ext cx="29826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40000"/>
          </a:bodyPr>
          <a:p>
            <a:pPr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rgbClr val="19223a"/>
                </a:solidFill>
                <a:latin typeface="Arial"/>
                <a:ea typeface="Arial"/>
              </a:rPr>
              <a:t>The icosphere gives the antipodal symmetry a uniform connection kernel needs.</a:t>
            </a:r>
            <a:endParaRPr b="0" lang="en-US" sz="2100" spc="-1" strike="noStrike">
              <a:latin typeface="Arial"/>
            </a:endParaRPr>
          </a:p>
        </p:txBody>
      </p:sp>
      <p:sp>
        <p:nvSpPr>
          <p:cNvPr id="182" name="Shape 12"/>
          <p:cNvSpPr/>
          <p:nvPr/>
        </p:nvSpPr>
        <p:spPr>
          <a:xfrm>
            <a:off x="9524880" y="3651840"/>
            <a:ext cx="95040" cy="95040"/>
          </a:xfrm>
          <a:prstGeom prst="ellipse">
            <a:avLst/>
          </a:prstGeom>
          <a:solidFill>
            <a:srgbClr val="2f74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3" name="Text 13"/>
          <p:cNvSpPr/>
          <p:nvPr/>
        </p:nvSpPr>
        <p:spPr>
          <a:xfrm>
            <a:off x="9791640" y="3528000"/>
            <a:ext cx="38080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40000"/>
          </a:bodyPr>
          <a:p>
            <a:pPr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rgbClr val="19223a"/>
                </a:solidFill>
                <a:latin typeface="Arial"/>
                <a:ea typeface="Arial"/>
              </a:rPr>
              <a:t>Total integrated input over a target’s Voronoi region — not peak input — drives selection.</a:t>
            </a:r>
            <a:endParaRPr b="0" lang="en-US" sz="2100" spc="-1" strike="noStrike">
              <a:latin typeface="Arial"/>
            </a:endParaRPr>
          </a:p>
        </p:txBody>
      </p:sp>
      <p:sp>
        <p:nvSpPr>
          <p:cNvPr id="184" name="Shape 14"/>
          <p:cNvSpPr/>
          <p:nvPr/>
        </p:nvSpPr>
        <p:spPr>
          <a:xfrm>
            <a:off x="9524880" y="4253760"/>
            <a:ext cx="95040" cy="95040"/>
          </a:xfrm>
          <a:prstGeom prst="ellipse">
            <a:avLst/>
          </a:prstGeom>
          <a:solidFill>
            <a:srgbClr val="2f74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5" name="Text 15"/>
          <p:cNvSpPr/>
          <p:nvPr/>
        </p:nvSpPr>
        <p:spPr>
          <a:xfrm>
            <a:off x="9791640" y="4129920"/>
            <a:ext cx="43048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50000"/>
          </a:bodyPr>
          <a:p>
            <a:pPr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rgbClr val="19223a"/>
                </a:solidFill>
                <a:latin typeface="Arial"/>
                <a:ea typeface="Arial"/>
              </a:rPr>
              <a:t>Equalizing only the input peaks fails: bump shape matters too.</a:t>
            </a:r>
            <a:endParaRPr b="0" lang="en-US" sz="2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Text 0"/>
          <p:cNvSpPr/>
          <p:nvPr/>
        </p:nvSpPr>
        <p:spPr>
          <a:xfrm>
            <a:off x="990720" y="876240"/>
            <a:ext cx="1793700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222" strike="noStrike">
                <a:solidFill>
                  <a:srgbClr val="2f74c0"/>
                </a:solidFill>
                <a:latin typeface="Courier New"/>
                <a:ea typeface="Courier New"/>
              </a:rPr>
              <a:t>CONTRIBUTION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87" name="Text 1"/>
          <p:cNvSpPr/>
          <p:nvPr/>
        </p:nvSpPr>
        <p:spPr>
          <a:xfrm>
            <a:off x="990720" y="1305000"/>
            <a:ext cx="17937000" cy="67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1000"/>
          </a:bodyPr>
          <a:p>
            <a:pPr>
              <a:lnSpc>
                <a:spcPct val="105000"/>
              </a:lnSpc>
              <a:buNone/>
              <a:tabLst>
                <a:tab algn="l" pos="0"/>
              </a:tabLst>
            </a:pPr>
            <a:r>
              <a:rPr b="1" lang="en-US" sz="4800" spc="-38" strike="noStrike">
                <a:solidFill>
                  <a:srgbClr val="15294d"/>
                </a:solidFill>
                <a:latin typeface="Arial"/>
                <a:ea typeface="Arial"/>
              </a:rPr>
              <a:t>Impact &amp; Contributions</a:t>
            </a:r>
            <a:endParaRPr b="0" lang="en-US" sz="4800" spc="-1" strike="noStrike">
              <a:latin typeface="Arial"/>
            </a:endParaRPr>
          </a:p>
        </p:txBody>
      </p:sp>
      <p:sp>
        <p:nvSpPr>
          <p:cNvPr id="188" name="Shape 2"/>
          <p:cNvSpPr/>
          <p:nvPr/>
        </p:nvSpPr>
        <p:spPr>
          <a:xfrm>
            <a:off x="990720" y="4706280"/>
            <a:ext cx="104400" cy="104400"/>
          </a:xfrm>
          <a:prstGeom prst="ellipse">
            <a:avLst/>
          </a:prstGeom>
          <a:solidFill>
            <a:srgbClr val="2f74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9" name="Text 3"/>
          <p:cNvSpPr/>
          <p:nvPr/>
        </p:nvSpPr>
        <p:spPr>
          <a:xfrm>
            <a:off x="1266840" y="4563360"/>
            <a:ext cx="8637480" cy="94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2000"/>
          </a:bodyPr>
          <a:p>
            <a:pPr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2550" spc="-1" strike="noStrike">
                <a:solidFill>
                  <a:srgbClr val="19223a"/>
                </a:solidFill>
                <a:latin typeface="Arial"/>
                <a:ea typeface="Arial"/>
              </a:rPr>
              <a:t>A working 3D spherical RAN that decodes heading from a population vector on an icosphere.</a:t>
            </a:r>
            <a:endParaRPr b="0" lang="en-US" sz="2550" spc="-1" strike="noStrike">
              <a:latin typeface="Arial"/>
            </a:endParaRPr>
          </a:p>
        </p:txBody>
      </p:sp>
      <p:sp>
        <p:nvSpPr>
          <p:cNvPr id="190" name="Shape 4"/>
          <p:cNvSpPr/>
          <p:nvPr/>
        </p:nvSpPr>
        <p:spPr>
          <a:xfrm>
            <a:off x="990720" y="5860800"/>
            <a:ext cx="104400" cy="104400"/>
          </a:xfrm>
          <a:prstGeom prst="ellipse">
            <a:avLst/>
          </a:prstGeom>
          <a:solidFill>
            <a:srgbClr val="2f74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1" name="Text 5"/>
          <p:cNvSpPr/>
          <p:nvPr/>
        </p:nvSpPr>
        <p:spPr>
          <a:xfrm>
            <a:off x="1266840" y="5717880"/>
            <a:ext cx="8637480" cy="94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2000"/>
          </a:bodyPr>
          <a:p>
            <a:pPr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2550" spc="-1" strike="noStrike">
                <a:solidFill>
                  <a:srgbClr val="19223a"/>
                </a:solidFill>
                <a:latin typeface="Arial"/>
                <a:ea typeface="Arial"/>
              </a:rPr>
              <a:t>Documentation of kernel design, critical-gain tuning, and real-time compute limits.</a:t>
            </a:r>
            <a:endParaRPr b="0" lang="en-US" sz="2550" spc="-1" strike="noStrike">
              <a:latin typeface="Arial"/>
            </a:endParaRPr>
          </a:p>
        </p:txBody>
      </p:sp>
      <p:sp>
        <p:nvSpPr>
          <p:cNvPr id="192" name="Shape 6"/>
          <p:cNvSpPr/>
          <p:nvPr/>
        </p:nvSpPr>
        <p:spPr>
          <a:xfrm>
            <a:off x="990720" y="7015320"/>
            <a:ext cx="104400" cy="104400"/>
          </a:xfrm>
          <a:prstGeom prst="ellipse">
            <a:avLst/>
          </a:prstGeom>
          <a:solidFill>
            <a:srgbClr val="2f74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3" name="Text 7"/>
          <p:cNvSpPr/>
          <p:nvPr/>
        </p:nvSpPr>
        <p:spPr>
          <a:xfrm>
            <a:off x="1266840" y="6872400"/>
            <a:ext cx="909072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0000"/>
          </a:bodyPr>
          <a:p>
            <a:pPr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2550" spc="-1" strike="noStrike">
                <a:solidFill>
                  <a:srgbClr val="19223a"/>
                </a:solidFill>
                <a:latin typeface="Arial"/>
                <a:ea typeface="Arial"/>
              </a:rPr>
              <a:t>A parameter-sweep workflow for u, σ, κ, v, and target quality γ.</a:t>
            </a:r>
            <a:endParaRPr b="0" lang="en-US" sz="25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Text 0"/>
          <p:cNvSpPr/>
          <p:nvPr/>
        </p:nvSpPr>
        <p:spPr>
          <a:xfrm>
            <a:off x="990720" y="876240"/>
            <a:ext cx="1793700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222" strike="noStrike">
                <a:solidFill>
                  <a:srgbClr val="2f74c0"/>
                </a:solidFill>
                <a:latin typeface="Courier New"/>
                <a:ea typeface="Courier New"/>
              </a:rPr>
              <a:t>LOOKING AHEAD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95" name="Text 1"/>
          <p:cNvSpPr/>
          <p:nvPr/>
        </p:nvSpPr>
        <p:spPr>
          <a:xfrm>
            <a:off x="990720" y="1305000"/>
            <a:ext cx="17937000" cy="67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1000"/>
          </a:bodyPr>
          <a:p>
            <a:pPr>
              <a:lnSpc>
                <a:spcPct val="105000"/>
              </a:lnSpc>
              <a:buNone/>
              <a:tabLst>
                <a:tab algn="l" pos="0"/>
              </a:tabLst>
            </a:pPr>
            <a:r>
              <a:rPr b="1" lang="en-US" sz="4800" spc="-38" strike="noStrike">
                <a:solidFill>
                  <a:srgbClr val="15294d"/>
                </a:solidFill>
                <a:latin typeface="Arial"/>
                <a:ea typeface="Arial"/>
              </a:rPr>
              <a:t>Next Steps &amp; Recommendations</a:t>
            </a:r>
            <a:endParaRPr b="0" lang="en-US" sz="4800" spc="-1" strike="noStrike">
              <a:latin typeface="Arial"/>
            </a:endParaRPr>
          </a:p>
        </p:txBody>
      </p:sp>
      <p:sp>
        <p:nvSpPr>
          <p:cNvPr id="196" name="Shape 2"/>
          <p:cNvSpPr/>
          <p:nvPr/>
        </p:nvSpPr>
        <p:spPr>
          <a:xfrm>
            <a:off x="990720" y="4336200"/>
            <a:ext cx="16306560" cy="9000"/>
          </a:xfrm>
          <a:prstGeom prst="rect">
            <a:avLst/>
          </a:prstGeom>
          <a:solidFill>
            <a:srgbClr val="dde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7" name="Text 3"/>
          <p:cNvSpPr/>
          <p:nvPr/>
        </p:nvSpPr>
        <p:spPr>
          <a:xfrm>
            <a:off x="990720" y="4631400"/>
            <a:ext cx="305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0000"/>
          </a:bodyPr>
          <a:p>
            <a:pPr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en-US" sz="3000" spc="-1" strike="noStrike">
                <a:solidFill>
                  <a:srgbClr val="2f74c0"/>
                </a:solidFill>
                <a:latin typeface="Courier New"/>
                <a:ea typeface="Courier New"/>
              </a:rPr>
              <a:t>→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198" name="Text 4"/>
          <p:cNvSpPr/>
          <p:nvPr/>
        </p:nvSpPr>
        <p:spPr>
          <a:xfrm>
            <a:off x="1562760" y="4631400"/>
            <a:ext cx="680868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50000"/>
          </a:bodyPr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2550" spc="-1" strike="noStrike">
                <a:solidFill>
                  <a:srgbClr val="19223a"/>
                </a:solidFill>
                <a:latin typeface="Arial"/>
                <a:ea typeface="Arial"/>
              </a:rPr>
              <a:t>Resolve discretization bias using Voronoi-integrated input rather than peak input.</a:t>
            </a:r>
            <a:endParaRPr b="0" lang="en-US" sz="2550" spc="-1" strike="noStrike">
              <a:latin typeface="Arial"/>
            </a:endParaRPr>
          </a:p>
        </p:txBody>
      </p:sp>
      <p:sp>
        <p:nvSpPr>
          <p:cNvPr id="199" name="Shape 5"/>
          <p:cNvSpPr/>
          <p:nvPr/>
        </p:nvSpPr>
        <p:spPr>
          <a:xfrm>
            <a:off x="990720" y="5430600"/>
            <a:ext cx="16306560" cy="9000"/>
          </a:xfrm>
          <a:prstGeom prst="rect">
            <a:avLst/>
          </a:prstGeom>
          <a:solidFill>
            <a:srgbClr val="dde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0" name="Text 6"/>
          <p:cNvSpPr/>
          <p:nvPr/>
        </p:nvSpPr>
        <p:spPr>
          <a:xfrm>
            <a:off x="990720" y="5725800"/>
            <a:ext cx="305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0000"/>
          </a:bodyPr>
          <a:p>
            <a:pPr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en-US" sz="3000" spc="-1" strike="noStrike">
                <a:solidFill>
                  <a:srgbClr val="2f74c0"/>
                </a:solidFill>
                <a:latin typeface="Courier New"/>
                <a:ea typeface="Courier New"/>
              </a:rPr>
              <a:t>→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201" name="Text 7"/>
          <p:cNvSpPr/>
          <p:nvPr/>
        </p:nvSpPr>
        <p:spPr>
          <a:xfrm>
            <a:off x="1562760" y="5725800"/>
            <a:ext cx="568152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65000"/>
          </a:bodyPr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2550" spc="-1" strike="noStrike">
                <a:solidFill>
                  <a:srgbClr val="19223a"/>
                </a:solidFill>
                <a:latin typeface="Arial"/>
                <a:ea typeface="Arial"/>
              </a:rPr>
              <a:t>Derive a 3D critical-gain relation to replace the 2D formula.</a:t>
            </a:r>
            <a:endParaRPr b="0" lang="en-US" sz="2550" spc="-1" strike="noStrike">
              <a:latin typeface="Arial"/>
            </a:endParaRPr>
          </a:p>
        </p:txBody>
      </p:sp>
      <p:sp>
        <p:nvSpPr>
          <p:cNvPr id="202" name="Shape 8"/>
          <p:cNvSpPr/>
          <p:nvPr/>
        </p:nvSpPr>
        <p:spPr>
          <a:xfrm>
            <a:off x="990720" y="7543440"/>
            <a:ext cx="16306560" cy="9000"/>
          </a:xfrm>
          <a:prstGeom prst="rect">
            <a:avLst/>
          </a:prstGeom>
          <a:solidFill>
            <a:srgbClr val="dde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3" name="Shape 9"/>
          <p:cNvSpPr/>
          <p:nvPr/>
        </p:nvSpPr>
        <p:spPr>
          <a:xfrm>
            <a:off x="990720" y="6525000"/>
            <a:ext cx="16306560" cy="9000"/>
          </a:xfrm>
          <a:prstGeom prst="rect">
            <a:avLst/>
          </a:prstGeom>
          <a:solidFill>
            <a:srgbClr val="dde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4" name="Text 10"/>
          <p:cNvSpPr/>
          <p:nvPr/>
        </p:nvSpPr>
        <p:spPr>
          <a:xfrm>
            <a:off x="990720" y="6820200"/>
            <a:ext cx="305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0000"/>
          </a:bodyPr>
          <a:p>
            <a:pPr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en-US" sz="3000" spc="-1" strike="noStrike">
                <a:solidFill>
                  <a:srgbClr val="2f74c0"/>
                </a:solidFill>
                <a:latin typeface="Courier New"/>
                <a:ea typeface="Courier New"/>
              </a:rPr>
              <a:t>→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205" name="Text 11"/>
          <p:cNvSpPr/>
          <p:nvPr/>
        </p:nvSpPr>
        <p:spPr>
          <a:xfrm>
            <a:off x="1562760" y="6820200"/>
            <a:ext cx="733392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65000"/>
          </a:bodyPr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2550" spc="-1" strike="noStrike">
                <a:solidFill>
                  <a:srgbClr val="19223a"/>
                </a:solidFill>
                <a:latin typeface="Arial"/>
                <a:ea typeface="Arial"/>
              </a:rPr>
              <a:t>Deploy the model on the Crazyflie and close the loop with live target input.</a:t>
            </a:r>
            <a:endParaRPr b="0" lang="en-US" sz="25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</TotalTime>
  <Application>LibreOffice/7.3.7.2$Linux_X86_64 LibreOffice_project/30$Build-2</Application>
  <AppVersion>15.0000</AppVersion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2026-06-24T14:19:02Z</dcterms:created>
  <dc:creator>PptxGenJS</dc:creator>
  <dc:description/>
  <dc:language>en-US</dc:language>
  <cp:lastModifiedBy/>
  <dcterms:modified xsi:type="dcterms:W3CDTF">2026-06-25T11:22:47Z</dcterms:modified>
  <cp:revision>4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18</vt:r8>
  </property>
  <property fmtid="{D5CDD505-2E9C-101B-9397-08002B2CF9AE}" pid="3" name="PresentationFormat">
    <vt:lpwstr>On-screen Show (16:9)</vt:lpwstr>
  </property>
  <property fmtid="{D5CDD505-2E9C-101B-9397-08002B2CF9AE}" pid="4" name="Slides">
    <vt:r8>18</vt:r8>
  </property>
</Properties>
</file>